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01 / Company Overview</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会  社  概  要</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SHIKI（親会社）× 日本住戸（グループ会社）</a:t>
            </a:r>
          </a:p>
        </p:txBody>
      </p:sp>
      <p:sp>
        <p:nvSpPr>
          <p:cNvPr id="6" name="Rectangle 5"/>
          <p:cNvSpPr/>
          <p:nvPr/>
        </p:nvSpPr>
        <p:spPr>
          <a:xfrm>
            <a:off x="320040" y="914400"/>
            <a:ext cx="11548872" cy="384048"/>
          </a:xfrm>
          <a:prstGeom prst="roundRect">
            <a:avLst>
              <a:gd name="adj" fmla="val 15000"/>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a:solidFill>
                  <a:srgbClr val="AABBCC"/>
                </a:solidFill>
              </a:rPr>
              <a:t>SHIKI  は  日本住戸  の</a:t>
            </a:r>
            <a:r>
              <a:rPr sz="1100" b="1">
                <a:solidFill>
                  <a:srgbClr val="4A90C8"/>
                </a:solidFill>
              </a:rPr>
              <a:t>  親会社（出資元）</a:t>
            </a:r>
            <a:r>
              <a:rPr sz="1100">
                <a:solidFill>
                  <a:srgbClr val="AABBCC"/>
                </a:solidFill>
              </a:rPr>
              <a:t>  であり、同一グループとして協業します</a:t>
            </a:r>
          </a:p>
        </p:txBody>
      </p:sp>
      <p:sp>
        <p:nvSpPr>
          <p:cNvPr id="7" name="Rectangle 6"/>
          <p:cNvSpPr/>
          <p:nvPr/>
        </p:nvSpPr>
        <p:spPr>
          <a:xfrm>
            <a:off x="320040" y="1417320"/>
            <a:ext cx="5646420" cy="52120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17320"/>
            <a:ext cx="5646420" cy="54864"/>
          </a:xfrm>
          <a:prstGeom prst="roundRect">
            <a:avLst>
              <a:gd name="adj" fmla="val 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581912"/>
            <a:ext cx="5244084" cy="365760"/>
          </a:xfrm>
          <a:prstGeom prst="rect">
            <a:avLst/>
          </a:prstGeom>
          <a:noFill/>
        </p:spPr>
        <p:txBody>
          <a:bodyPr wrap="square">
            <a:spAutoFit/>
          </a:bodyPr>
          <a:lstStyle/>
          <a:p>
            <a:pPr algn="l"/>
            <a:r>
              <a:rPr sz="2000" b="1">
                <a:solidFill>
                  <a:srgbClr val="2860A8"/>
                </a:solidFill>
              </a:rPr>
              <a:t>SHIKI</a:t>
            </a:r>
          </a:p>
        </p:txBody>
      </p:sp>
      <p:sp>
        <p:nvSpPr>
          <p:cNvPr id="10" name="Rectangle 9"/>
          <p:cNvSpPr/>
          <p:nvPr/>
        </p:nvSpPr>
        <p:spPr>
          <a:xfrm>
            <a:off x="521208" y="1929384"/>
            <a:ext cx="1097280" cy="237744"/>
          </a:xfrm>
          <a:prstGeom prst="roundRect">
            <a:avLst>
              <a:gd name="adj" fmla="val 20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rPr>
              <a:t>親会社・出資元</a:t>
            </a:r>
          </a:p>
        </p:txBody>
      </p:sp>
      <p:sp>
        <p:nvSpPr>
          <p:cNvPr id="11" name="TextBox 10"/>
          <p:cNvSpPr txBox="1"/>
          <p:nvPr/>
        </p:nvSpPr>
        <p:spPr>
          <a:xfrm>
            <a:off x="521208" y="2276856"/>
            <a:ext cx="914400" cy="219456"/>
          </a:xfrm>
          <a:prstGeom prst="rect">
            <a:avLst/>
          </a:prstGeom>
          <a:noFill/>
        </p:spPr>
        <p:txBody>
          <a:bodyPr wrap="square">
            <a:spAutoFit/>
          </a:bodyPr>
          <a:lstStyle/>
          <a:p>
            <a:pPr algn="l"/>
            <a:r>
              <a:rPr sz="800" b="0">
                <a:solidFill>
                  <a:srgbClr val="6A7A8A"/>
                </a:solidFill>
              </a:rPr>
              <a:t>会社名</a:t>
            </a:r>
          </a:p>
        </p:txBody>
      </p:sp>
      <p:sp>
        <p:nvSpPr>
          <p:cNvPr id="12" name="TextBox 11"/>
          <p:cNvSpPr txBox="1"/>
          <p:nvPr/>
        </p:nvSpPr>
        <p:spPr>
          <a:xfrm>
            <a:off x="1481328" y="2276856"/>
            <a:ext cx="4283964" cy="219456"/>
          </a:xfrm>
          <a:prstGeom prst="rect">
            <a:avLst/>
          </a:prstGeom>
          <a:noFill/>
        </p:spPr>
        <p:txBody>
          <a:bodyPr wrap="square">
            <a:spAutoFit/>
          </a:bodyPr>
          <a:lstStyle/>
          <a:p>
            <a:pPr algn="l"/>
            <a:r>
              <a:rPr sz="1000" b="0">
                <a:solidFill>
                  <a:srgbClr val="1A2E48"/>
                </a:solidFill>
              </a:rPr>
              <a:t>株式会社 SHIKI</a:t>
            </a:r>
          </a:p>
        </p:txBody>
      </p:sp>
      <p:sp>
        <p:nvSpPr>
          <p:cNvPr id="13" name="TextBox 12"/>
          <p:cNvSpPr txBox="1"/>
          <p:nvPr/>
        </p:nvSpPr>
        <p:spPr>
          <a:xfrm>
            <a:off x="521208" y="2532888"/>
            <a:ext cx="914400" cy="219456"/>
          </a:xfrm>
          <a:prstGeom prst="rect">
            <a:avLst/>
          </a:prstGeom>
          <a:noFill/>
        </p:spPr>
        <p:txBody>
          <a:bodyPr wrap="square">
            <a:spAutoFit/>
          </a:bodyPr>
          <a:lstStyle/>
          <a:p>
            <a:pPr algn="l"/>
            <a:r>
              <a:rPr sz="800" b="0">
                <a:solidFill>
                  <a:srgbClr val="6A7A8A"/>
                </a:solidFill>
              </a:rPr>
              <a:t>所在地</a:t>
            </a:r>
          </a:p>
        </p:txBody>
      </p:sp>
      <p:sp>
        <p:nvSpPr>
          <p:cNvPr id="14" name="TextBox 13"/>
          <p:cNvSpPr txBox="1"/>
          <p:nvPr/>
        </p:nvSpPr>
        <p:spPr>
          <a:xfrm>
            <a:off x="1481328" y="2532888"/>
            <a:ext cx="4283964" cy="219456"/>
          </a:xfrm>
          <a:prstGeom prst="rect">
            <a:avLst/>
          </a:prstGeom>
          <a:noFill/>
        </p:spPr>
        <p:txBody>
          <a:bodyPr wrap="square">
            <a:spAutoFit/>
          </a:bodyPr>
          <a:lstStyle/>
          <a:p>
            <a:pPr algn="l"/>
            <a:r>
              <a:rPr sz="1000" b="0">
                <a:solidFill>
                  <a:srgbClr val="1A2E48"/>
                </a:solidFill>
              </a:rPr>
              <a:t>●●●●●●●●●●</a:t>
            </a:r>
          </a:p>
        </p:txBody>
      </p:sp>
      <p:sp>
        <p:nvSpPr>
          <p:cNvPr id="15" name="TextBox 14"/>
          <p:cNvSpPr txBox="1"/>
          <p:nvPr/>
        </p:nvSpPr>
        <p:spPr>
          <a:xfrm>
            <a:off x="521208" y="2788920"/>
            <a:ext cx="914400" cy="219456"/>
          </a:xfrm>
          <a:prstGeom prst="rect">
            <a:avLst/>
          </a:prstGeom>
          <a:noFill/>
        </p:spPr>
        <p:txBody>
          <a:bodyPr wrap="square">
            <a:spAutoFit/>
          </a:bodyPr>
          <a:lstStyle/>
          <a:p>
            <a:pPr algn="l"/>
            <a:r>
              <a:rPr sz="800" b="0">
                <a:solidFill>
                  <a:srgbClr val="6A7A8A"/>
                </a:solidFill>
              </a:rPr>
              <a:t>設　立</a:t>
            </a:r>
          </a:p>
        </p:txBody>
      </p:sp>
      <p:sp>
        <p:nvSpPr>
          <p:cNvPr id="16" name="TextBox 15"/>
          <p:cNvSpPr txBox="1"/>
          <p:nvPr/>
        </p:nvSpPr>
        <p:spPr>
          <a:xfrm>
            <a:off x="1481328" y="2788920"/>
            <a:ext cx="4283964" cy="219456"/>
          </a:xfrm>
          <a:prstGeom prst="rect">
            <a:avLst/>
          </a:prstGeom>
          <a:noFill/>
        </p:spPr>
        <p:txBody>
          <a:bodyPr wrap="square">
            <a:spAutoFit/>
          </a:bodyPr>
          <a:lstStyle/>
          <a:p>
            <a:pPr algn="l"/>
            <a:r>
              <a:rPr sz="1000" b="0">
                <a:solidFill>
                  <a:srgbClr val="1A2E48"/>
                </a:solidFill>
              </a:rPr>
              <a:t>●●●●年●月</a:t>
            </a:r>
          </a:p>
        </p:txBody>
      </p:sp>
      <p:sp>
        <p:nvSpPr>
          <p:cNvPr id="17" name="TextBox 16"/>
          <p:cNvSpPr txBox="1"/>
          <p:nvPr/>
        </p:nvSpPr>
        <p:spPr>
          <a:xfrm>
            <a:off x="521208" y="3044952"/>
            <a:ext cx="914400" cy="219456"/>
          </a:xfrm>
          <a:prstGeom prst="rect">
            <a:avLst/>
          </a:prstGeom>
          <a:noFill/>
        </p:spPr>
        <p:txBody>
          <a:bodyPr wrap="square">
            <a:spAutoFit/>
          </a:bodyPr>
          <a:lstStyle/>
          <a:p>
            <a:pPr algn="l"/>
            <a:r>
              <a:rPr sz="800" b="0">
                <a:solidFill>
                  <a:srgbClr val="6A7A8A"/>
                </a:solidFill>
              </a:rPr>
              <a:t>代　表</a:t>
            </a:r>
          </a:p>
        </p:txBody>
      </p:sp>
      <p:sp>
        <p:nvSpPr>
          <p:cNvPr id="18" name="TextBox 17"/>
          <p:cNvSpPr txBox="1"/>
          <p:nvPr/>
        </p:nvSpPr>
        <p:spPr>
          <a:xfrm>
            <a:off x="1481328" y="3044952"/>
            <a:ext cx="4283964" cy="219456"/>
          </a:xfrm>
          <a:prstGeom prst="rect">
            <a:avLst/>
          </a:prstGeom>
          <a:noFill/>
        </p:spPr>
        <p:txBody>
          <a:bodyPr wrap="square">
            <a:spAutoFit/>
          </a:bodyPr>
          <a:lstStyle/>
          <a:p>
            <a:pPr algn="l"/>
            <a:r>
              <a:rPr sz="1000" b="0">
                <a:solidFill>
                  <a:srgbClr val="1A2E48"/>
                </a:solidFill>
              </a:rPr>
              <a:t>●●　●●</a:t>
            </a:r>
          </a:p>
        </p:txBody>
      </p:sp>
      <p:sp>
        <p:nvSpPr>
          <p:cNvPr id="19" name="TextBox 18"/>
          <p:cNvSpPr txBox="1"/>
          <p:nvPr/>
        </p:nvSpPr>
        <p:spPr>
          <a:xfrm>
            <a:off x="521208" y="3300984"/>
            <a:ext cx="914400" cy="219456"/>
          </a:xfrm>
          <a:prstGeom prst="rect">
            <a:avLst/>
          </a:prstGeom>
          <a:noFill/>
        </p:spPr>
        <p:txBody>
          <a:bodyPr wrap="square">
            <a:spAutoFit/>
          </a:bodyPr>
          <a:lstStyle/>
          <a:p>
            <a:pPr algn="l"/>
            <a:r>
              <a:rPr sz="800" b="0">
                <a:solidFill>
                  <a:srgbClr val="6A7A8A"/>
                </a:solidFill>
              </a:rPr>
              <a:t>資本金</a:t>
            </a:r>
          </a:p>
        </p:txBody>
      </p:sp>
      <p:sp>
        <p:nvSpPr>
          <p:cNvPr id="20" name="TextBox 19"/>
          <p:cNvSpPr txBox="1"/>
          <p:nvPr/>
        </p:nvSpPr>
        <p:spPr>
          <a:xfrm>
            <a:off x="1481328" y="3300984"/>
            <a:ext cx="4283964" cy="219456"/>
          </a:xfrm>
          <a:prstGeom prst="rect">
            <a:avLst/>
          </a:prstGeom>
          <a:noFill/>
        </p:spPr>
        <p:txBody>
          <a:bodyPr wrap="square">
            <a:spAutoFit/>
          </a:bodyPr>
          <a:lstStyle/>
          <a:p>
            <a:pPr algn="l"/>
            <a:r>
              <a:rPr sz="1000" b="0">
                <a:solidFill>
                  <a:srgbClr val="1A2E48"/>
                </a:solidFill>
              </a:rPr>
              <a:t>●●●万円</a:t>
            </a:r>
          </a:p>
        </p:txBody>
      </p:sp>
      <p:sp>
        <p:nvSpPr>
          <p:cNvPr id="21" name="TextBox 20"/>
          <p:cNvSpPr txBox="1"/>
          <p:nvPr/>
        </p:nvSpPr>
        <p:spPr>
          <a:xfrm>
            <a:off x="521208" y="3557016"/>
            <a:ext cx="914400" cy="219456"/>
          </a:xfrm>
          <a:prstGeom prst="rect">
            <a:avLst/>
          </a:prstGeom>
          <a:noFill/>
        </p:spPr>
        <p:txBody>
          <a:bodyPr wrap="square">
            <a:spAutoFit/>
          </a:bodyPr>
          <a:lstStyle/>
          <a:p>
            <a:pPr algn="l"/>
            <a:r>
              <a:rPr sz="800" b="0">
                <a:solidFill>
                  <a:srgbClr val="6A7A8A"/>
                </a:solidFill>
              </a:rPr>
              <a:t>事業内容</a:t>
            </a:r>
          </a:p>
        </p:txBody>
      </p:sp>
      <p:sp>
        <p:nvSpPr>
          <p:cNvPr id="22" name="TextBox 21"/>
          <p:cNvSpPr txBox="1"/>
          <p:nvPr/>
        </p:nvSpPr>
        <p:spPr>
          <a:xfrm>
            <a:off x="1481328" y="3557016"/>
            <a:ext cx="4283964" cy="219456"/>
          </a:xfrm>
          <a:prstGeom prst="rect">
            <a:avLst/>
          </a:prstGeom>
          <a:noFill/>
        </p:spPr>
        <p:txBody>
          <a:bodyPr wrap="square">
            <a:spAutoFit/>
          </a:bodyPr>
          <a:lstStyle/>
          <a:p>
            <a:pPr algn="l"/>
            <a:r>
              <a:rPr sz="1000" b="0">
                <a:solidFill>
                  <a:srgbClr val="1A2E48"/>
                </a:solidFill>
              </a:rPr>
              <a:t>不動産テック・プラットフォーム事業</a:t>
            </a:r>
          </a:p>
        </p:txBody>
      </p:sp>
      <p:sp>
        <p:nvSpPr>
          <p:cNvPr id="23" name="Rectangle 22"/>
          <p:cNvSpPr/>
          <p:nvPr/>
        </p:nvSpPr>
        <p:spPr>
          <a:xfrm>
            <a:off x="6222492" y="1417320"/>
            <a:ext cx="5646420" cy="52120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22492" y="1417320"/>
            <a:ext cx="5646420" cy="54864"/>
          </a:xfrm>
          <a:prstGeom prst="roundRect">
            <a:avLst>
              <a:gd name="adj" fmla="val 0"/>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3660" y="1581912"/>
            <a:ext cx="5244084" cy="365760"/>
          </a:xfrm>
          <a:prstGeom prst="rect">
            <a:avLst/>
          </a:prstGeom>
          <a:noFill/>
        </p:spPr>
        <p:txBody>
          <a:bodyPr wrap="square">
            <a:spAutoFit/>
          </a:bodyPr>
          <a:lstStyle/>
          <a:p>
            <a:pPr algn="l"/>
            <a:r>
              <a:rPr sz="2000" b="1">
                <a:solidFill>
                  <a:srgbClr val="1A2E48"/>
                </a:solidFill>
              </a:rPr>
              <a:t>日本住戸</a:t>
            </a:r>
          </a:p>
        </p:txBody>
      </p:sp>
      <p:sp>
        <p:nvSpPr>
          <p:cNvPr id="26" name="Rectangle 25"/>
          <p:cNvSpPr/>
          <p:nvPr/>
        </p:nvSpPr>
        <p:spPr>
          <a:xfrm>
            <a:off x="6423660" y="1929384"/>
            <a:ext cx="1280160" cy="237744"/>
          </a:xfrm>
          <a:prstGeom prst="roundRect">
            <a:avLst>
              <a:gd name="adj" fmla="val 20000"/>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rPr>
              <a:t>グループ会社（子会社）</a:t>
            </a:r>
          </a:p>
        </p:txBody>
      </p:sp>
      <p:sp>
        <p:nvSpPr>
          <p:cNvPr id="27" name="TextBox 26"/>
          <p:cNvSpPr txBox="1"/>
          <p:nvPr/>
        </p:nvSpPr>
        <p:spPr>
          <a:xfrm>
            <a:off x="6423660" y="2276856"/>
            <a:ext cx="914400" cy="219456"/>
          </a:xfrm>
          <a:prstGeom prst="rect">
            <a:avLst/>
          </a:prstGeom>
          <a:noFill/>
        </p:spPr>
        <p:txBody>
          <a:bodyPr wrap="square">
            <a:spAutoFit/>
          </a:bodyPr>
          <a:lstStyle/>
          <a:p>
            <a:pPr algn="l"/>
            <a:r>
              <a:rPr sz="800" b="0">
                <a:solidFill>
                  <a:srgbClr val="6A7A8A"/>
                </a:solidFill>
              </a:rPr>
              <a:t>会社名</a:t>
            </a:r>
          </a:p>
        </p:txBody>
      </p:sp>
      <p:sp>
        <p:nvSpPr>
          <p:cNvPr id="28" name="TextBox 27"/>
          <p:cNvSpPr txBox="1"/>
          <p:nvPr/>
        </p:nvSpPr>
        <p:spPr>
          <a:xfrm>
            <a:off x="7383780" y="2276856"/>
            <a:ext cx="4283964" cy="219456"/>
          </a:xfrm>
          <a:prstGeom prst="rect">
            <a:avLst/>
          </a:prstGeom>
          <a:noFill/>
        </p:spPr>
        <p:txBody>
          <a:bodyPr wrap="square">
            <a:spAutoFit/>
          </a:bodyPr>
          <a:lstStyle/>
          <a:p>
            <a:pPr algn="l"/>
            <a:r>
              <a:rPr sz="1000" b="0">
                <a:solidFill>
                  <a:srgbClr val="1A2E48"/>
                </a:solidFill>
              </a:rPr>
              <a:t>●●●●株式会社</a:t>
            </a:r>
          </a:p>
        </p:txBody>
      </p:sp>
      <p:sp>
        <p:nvSpPr>
          <p:cNvPr id="29" name="TextBox 28"/>
          <p:cNvSpPr txBox="1"/>
          <p:nvPr/>
        </p:nvSpPr>
        <p:spPr>
          <a:xfrm>
            <a:off x="6423660" y="2532888"/>
            <a:ext cx="914400" cy="219456"/>
          </a:xfrm>
          <a:prstGeom prst="rect">
            <a:avLst/>
          </a:prstGeom>
          <a:noFill/>
        </p:spPr>
        <p:txBody>
          <a:bodyPr wrap="square">
            <a:spAutoFit/>
          </a:bodyPr>
          <a:lstStyle/>
          <a:p>
            <a:pPr algn="l"/>
            <a:r>
              <a:rPr sz="800" b="0">
                <a:solidFill>
                  <a:srgbClr val="6A7A8A"/>
                </a:solidFill>
              </a:rPr>
              <a:t>所在地</a:t>
            </a:r>
          </a:p>
        </p:txBody>
      </p:sp>
      <p:sp>
        <p:nvSpPr>
          <p:cNvPr id="30" name="TextBox 29"/>
          <p:cNvSpPr txBox="1"/>
          <p:nvPr/>
        </p:nvSpPr>
        <p:spPr>
          <a:xfrm>
            <a:off x="7383780" y="2532888"/>
            <a:ext cx="4283964" cy="219456"/>
          </a:xfrm>
          <a:prstGeom prst="rect">
            <a:avLst/>
          </a:prstGeom>
          <a:noFill/>
        </p:spPr>
        <p:txBody>
          <a:bodyPr wrap="square">
            <a:spAutoFit/>
          </a:bodyPr>
          <a:lstStyle/>
          <a:p>
            <a:pPr algn="l"/>
            <a:r>
              <a:rPr sz="1000" b="0">
                <a:solidFill>
                  <a:srgbClr val="1A2E48"/>
                </a:solidFill>
              </a:rPr>
              <a:t>●●●●●●●●●●</a:t>
            </a:r>
          </a:p>
        </p:txBody>
      </p:sp>
      <p:sp>
        <p:nvSpPr>
          <p:cNvPr id="31" name="TextBox 30"/>
          <p:cNvSpPr txBox="1"/>
          <p:nvPr/>
        </p:nvSpPr>
        <p:spPr>
          <a:xfrm>
            <a:off x="6423660" y="2788920"/>
            <a:ext cx="914400" cy="219456"/>
          </a:xfrm>
          <a:prstGeom prst="rect">
            <a:avLst/>
          </a:prstGeom>
          <a:noFill/>
        </p:spPr>
        <p:txBody>
          <a:bodyPr wrap="square">
            <a:spAutoFit/>
          </a:bodyPr>
          <a:lstStyle/>
          <a:p>
            <a:pPr algn="l"/>
            <a:r>
              <a:rPr sz="800" b="0">
                <a:solidFill>
                  <a:srgbClr val="6A7A8A"/>
                </a:solidFill>
              </a:rPr>
              <a:t>設　立</a:t>
            </a:r>
          </a:p>
        </p:txBody>
      </p:sp>
      <p:sp>
        <p:nvSpPr>
          <p:cNvPr id="32" name="TextBox 31"/>
          <p:cNvSpPr txBox="1"/>
          <p:nvPr/>
        </p:nvSpPr>
        <p:spPr>
          <a:xfrm>
            <a:off x="7383780" y="2788920"/>
            <a:ext cx="4283964" cy="219456"/>
          </a:xfrm>
          <a:prstGeom prst="rect">
            <a:avLst/>
          </a:prstGeom>
          <a:noFill/>
        </p:spPr>
        <p:txBody>
          <a:bodyPr wrap="square">
            <a:spAutoFit/>
          </a:bodyPr>
          <a:lstStyle/>
          <a:p>
            <a:pPr algn="l"/>
            <a:r>
              <a:rPr sz="1000" b="0">
                <a:solidFill>
                  <a:srgbClr val="1A2E48"/>
                </a:solidFill>
              </a:rPr>
              <a:t>●●●●年●月</a:t>
            </a:r>
          </a:p>
        </p:txBody>
      </p:sp>
      <p:sp>
        <p:nvSpPr>
          <p:cNvPr id="33" name="TextBox 32"/>
          <p:cNvSpPr txBox="1"/>
          <p:nvPr/>
        </p:nvSpPr>
        <p:spPr>
          <a:xfrm>
            <a:off x="6423660" y="3044952"/>
            <a:ext cx="914400" cy="219456"/>
          </a:xfrm>
          <a:prstGeom prst="rect">
            <a:avLst/>
          </a:prstGeom>
          <a:noFill/>
        </p:spPr>
        <p:txBody>
          <a:bodyPr wrap="square">
            <a:spAutoFit/>
          </a:bodyPr>
          <a:lstStyle/>
          <a:p>
            <a:pPr algn="l"/>
            <a:r>
              <a:rPr sz="800" b="0">
                <a:solidFill>
                  <a:srgbClr val="6A7A8A"/>
                </a:solidFill>
              </a:rPr>
              <a:t>代　表</a:t>
            </a:r>
          </a:p>
        </p:txBody>
      </p:sp>
      <p:sp>
        <p:nvSpPr>
          <p:cNvPr id="34" name="TextBox 33"/>
          <p:cNvSpPr txBox="1"/>
          <p:nvPr/>
        </p:nvSpPr>
        <p:spPr>
          <a:xfrm>
            <a:off x="7383780" y="3044952"/>
            <a:ext cx="4283964" cy="219456"/>
          </a:xfrm>
          <a:prstGeom prst="rect">
            <a:avLst/>
          </a:prstGeom>
          <a:noFill/>
        </p:spPr>
        <p:txBody>
          <a:bodyPr wrap="square">
            <a:spAutoFit/>
          </a:bodyPr>
          <a:lstStyle/>
          <a:p>
            <a:pPr algn="l"/>
            <a:r>
              <a:rPr sz="1000" b="0">
                <a:solidFill>
                  <a:srgbClr val="1A2E48"/>
                </a:solidFill>
              </a:rPr>
              <a:t>●●　●●</a:t>
            </a:r>
          </a:p>
        </p:txBody>
      </p:sp>
      <p:sp>
        <p:nvSpPr>
          <p:cNvPr id="35" name="TextBox 34"/>
          <p:cNvSpPr txBox="1"/>
          <p:nvPr/>
        </p:nvSpPr>
        <p:spPr>
          <a:xfrm>
            <a:off x="6423660" y="3300984"/>
            <a:ext cx="914400" cy="219456"/>
          </a:xfrm>
          <a:prstGeom prst="rect">
            <a:avLst/>
          </a:prstGeom>
          <a:noFill/>
        </p:spPr>
        <p:txBody>
          <a:bodyPr wrap="square">
            <a:spAutoFit/>
          </a:bodyPr>
          <a:lstStyle/>
          <a:p>
            <a:pPr algn="l"/>
            <a:r>
              <a:rPr sz="800" b="0">
                <a:solidFill>
                  <a:srgbClr val="6A7A8A"/>
                </a:solidFill>
              </a:rPr>
              <a:t>資本金</a:t>
            </a:r>
          </a:p>
        </p:txBody>
      </p:sp>
      <p:sp>
        <p:nvSpPr>
          <p:cNvPr id="36" name="TextBox 35"/>
          <p:cNvSpPr txBox="1"/>
          <p:nvPr/>
        </p:nvSpPr>
        <p:spPr>
          <a:xfrm>
            <a:off x="7383780" y="3300984"/>
            <a:ext cx="4283964" cy="219456"/>
          </a:xfrm>
          <a:prstGeom prst="rect">
            <a:avLst/>
          </a:prstGeom>
          <a:noFill/>
        </p:spPr>
        <p:txBody>
          <a:bodyPr wrap="square">
            <a:spAutoFit/>
          </a:bodyPr>
          <a:lstStyle/>
          <a:p>
            <a:pPr algn="l"/>
            <a:r>
              <a:rPr sz="1000" b="0">
                <a:solidFill>
                  <a:srgbClr val="1A2E48"/>
                </a:solidFill>
              </a:rPr>
              <a:t>●●●万円</a:t>
            </a:r>
          </a:p>
        </p:txBody>
      </p:sp>
      <p:sp>
        <p:nvSpPr>
          <p:cNvPr id="37" name="TextBox 36"/>
          <p:cNvSpPr txBox="1"/>
          <p:nvPr/>
        </p:nvSpPr>
        <p:spPr>
          <a:xfrm>
            <a:off x="6423660" y="3557016"/>
            <a:ext cx="914400" cy="219456"/>
          </a:xfrm>
          <a:prstGeom prst="rect">
            <a:avLst/>
          </a:prstGeom>
          <a:noFill/>
        </p:spPr>
        <p:txBody>
          <a:bodyPr wrap="square">
            <a:spAutoFit/>
          </a:bodyPr>
          <a:lstStyle/>
          <a:p>
            <a:pPr algn="l"/>
            <a:r>
              <a:rPr sz="800" b="0">
                <a:solidFill>
                  <a:srgbClr val="6A7A8A"/>
                </a:solidFill>
              </a:rPr>
              <a:t>事業内容</a:t>
            </a:r>
          </a:p>
        </p:txBody>
      </p:sp>
      <p:sp>
        <p:nvSpPr>
          <p:cNvPr id="38" name="TextBox 37"/>
          <p:cNvSpPr txBox="1"/>
          <p:nvPr/>
        </p:nvSpPr>
        <p:spPr>
          <a:xfrm>
            <a:off x="7383780" y="3557016"/>
            <a:ext cx="4283964" cy="219456"/>
          </a:xfrm>
          <a:prstGeom prst="rect">
            <a:avLst/>
          </a:prstGeom>
          <a:noFill/>
        </p:spPr>
        <p:txBody>
          <a:bodyPr wrap="square">
            <a:spAutoFit/>
          </a:bodyPr>
          <a:lstStyle/>
          <a:p>
            <a:pPr algn="l"/>
            <a:r>
              <a:rPr sz="1000" b="0">
                <a:solidFill>
                  <a:srgbClr val="1A2E48"/>
                </a:solidFill>
              </a:rPr>
              <a:t>不動産管理・賃貸仲介事業</a:t>
            </a:r>
          </a:p>
        </p:txBody>
      </p:sp>
      <p:sp>
        <p:nvSpPr>
          <p:cNvPr id="39" name="Rectangle 38"/>
          <p:cNvSpPr/>
          <p:nvPr/>
        </p:nvSpPr>
        <p:spPr>
          <a:xfrm>
            <a:off x="6003036" y="4014216"/>
            <a:ext cx="182880" cy="19050"/>
          </a:xfrm>
          <a:prstGeom prst="rect">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66460" y="3749040"/>
            <a:ext cx="256032" cy="201168"/>
          </a:xfrm>
          <a:prstGeom prst="rect">
            <a:avLst/>
          </a:prstGeom>
          <a:noFill/>
        </p:spPr>
        <p:txBody>
          <a:bodyPr wrap="square">
            <a:spAutoFit/>
          </a:bodyPr>
          <a:lstStyle/>
          <a:p>
            <a:pPr algn="ctr"/>
            <a:r>
              <a:rPr sz="700" b="0">
                <a:solidFill>
                  <a:srgbClr val="2860A8"/>
                </a:solidFill>
              </a:rPr>
              <a:t>出資</a:t>
            </a:r>
          </a:p>
        </p:txBody>
      </p:sp>
      <p:sp>
        <p:nvSpPr>
          <p:cNvPr id="41" name="TextBox 40"/>
          <p:cNvSpPr txBox="1"/>
          <p:nvPr/>
        </p:nvSpPr>
        <p:spPr>
          <a:xfrm>
            <a:off x="5966460" y="4059936"/>
            <a:ext cx="256032" cy="201168"/>
          </a:xfrm>
          <a:prstGeom prst="rect">
            <a:avLst/>
          </a:prstGeom>
          <a:noFill/>
        </p:spPr>
        <p:txBody>
          <a:bodyPr wrap="square">
            <a:spAutoFit/>
          </a:bodyPr>
          <a:lstStyle/>
          <a:p>
            <a:pPr algn="ctr"/>
            <a:r>
              <a:rPr sz="1000" b="0">
                <a:solidFill>
                  <a:srgbClr val="2860A8"/>
                </a:solidFill>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02 / Business Model</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ビ ジ ネ ス モ デ ル</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SHIKIモデルを踏襲</a:t>
            </a:r>
          </a:p>
        </p:txBody>
      </p:sp>
      <p:sp>
        <p:nvSpPr>
          <p:cNvPr id="6" name="Rectangle 5"/>
          <p:cNvSpPr/>
          <p:nvPr/>
        </p:nvSpPr>
        <p:spPr>
          <a:xfrm>
            <a:off x="320040" y="886968"/>
            <a:ext cx="11548872" cy="45720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886968"/>
            <a:ext cx="54864" cy="457200"/>
          </a:xfrm>
          <a:prstGeom prst="roundRect">
            <a:avLst>
              <a:gd name="adj" fmla="val 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932688"/>
            <a:ext cx="11274552" cy="384048"/>
          </a:xfrm>
          <a:prstGeom prst="rect">
            <a:avLst/>
          </a:prstGeom>
          <a:noFill/>
        </p:spPr>
        <p:txBody>
          <a:bodyPr wrap="square">
            <a:spAutoFit/>
          </a:bodyPr>
          <a:lstStyle/>
          <a:p>
            <a:pPr algn="l"/>
            <a:r>
              <a:rPr sz="1000" b="0">
                <a:solidFill>
                  <a:srgbClr val="1A2E48"/>
                </a:solidFill>
              </a:rPr>
              <a:t>SHIKIが確立した月次課金モデルを基盤に、物件オーナーへのバリュー提供と仲介会社への収益シェアを組み合わせた三方よしのビジネス設計です。</a:t>
            </a:r>
          </a:p>
        </p:txBody>
      </p:sp>
      <p:sp>
        <p:nvSpPr>
          <p:cNvPr id="9" name="Rectangle 8"/>
          <p:cNvSpPr/>
          <p:nvPr/>
        </p:nvSpPr>
        <p:spPr>
          <a:xfrm>
            <a:off x="1499616" y="3931920"/>
            <a:ext cx="1920240" cy="15544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9616" y="4041648"/>
            <a:ext cx="1920240" cy="365760"/>
          </a:xfrm>
          <a:prstGeom prst="rect">
            <a:avLst/>
          </a:prstGeom>
          <a:noFill/>
        </p:spPr>
        <p:txBody>
          <a:bodyPr wrap="square">
            <a:spAutoFit/>
          </a:bodyPr>
          <a:lstStyle/>
          <a:p>
            <a:pPr algn="ctr"/>
            <a:r>
              <a:rPr sz="2200" b="0">
                <a:solidFill>
                  <a:srgbClr val="1A2E48"/>
                </a:solidFill>
              </a:rPr>
              <a:t>🏢</a:t>
            </a:r>
          </a:p>
        </p:txBody>
      </p:sp>
      <p:sp>
        <p:nvSpPr>
          <p:cNvPr id="11" name="TextBox 10"/>
          <p:cNvSpPr txBox="1"/>
          <p:nvPr/>
        </p:nvSpPr>
        <p:spPr>
          <a:xfrm>
            <a:off x="1499616" y="4389120"/>
            <a:ext cx="1920240" cy="402336"/>
          </a:xfrm>
          <a:prstGeom prst="rect">
            <a:avLst/>
          </a:prstGeom>
          <a:noFill/>
        </p:spPr>
        <p:txBody>
          <a:bodyPr wrap="square">
            <a:spAutoFit/>
          </a:bodyPr>
          <a:lstStyle/>
          <a:p>
            <a:pPr algn="ctr"/>
            <a:r>
              <a:rPr sz="1100" b="1">
                <a:solidFill>
                  <a:srgbClr val="1A2E48"/>
                </a:solidFill>
              </a:rPr>
              <a:t>物件オーナー</a:t>
            </a:r>
          </a:p>
        </p:txBody>
      </p:sp>
      <p:sp>
        <p:nvSpPr>
          <p:cNvPr id="12" name="TextBox 11"/>
          <p:cNvSpPr txBox="1"/>
          <p:nvPr/>
        </p:nvSpPr>
        <p:spPr>
          <a:xfrm>
            <a:off x="1499616" y="4773168"/>
            <a:ext cx="1920240" cy="603504"/>
          </a:xfrm>
          <a:prstGeom prst="rect">
            <a:avLst/>
          </a:prstGeom>
          <a:noFill/>
        </p:spPr>
        <p:txBody>
          <a:bodyPr wrap="square">
            <a:spAutoFit/>
          </a:bodyPr>
          <a:lstStyle/>
          <a:p>
            <a:pPr algn="ctr"/>
            <a:r>
              <a:rPr sz="900" b="0">
                <a:solidFill>
                  <a:srgbClr val="6A7A8A"/>
                </a:solidFill>
              </a:rPr>
              <a:t>管理コスト削減
空室リスク低減</a:t>
            </a:r>
          </a:p>
        </p:txBody>
      </p:sp>
      <p:cxnSp>
        <p:nvCxnSpPr>
          <p:cNvPr id="13" name="Connector 12"/>
          <p:cNvCxnSpPr/>
          <p:nvPr/>
        </p:nvCxnSpPr>
        <p:spPr>
          <a:xfrm>
            <a:off x="3493008.0" y="4709160.0"/>
            <a:ext cx="356616.0" cy="0.0"/>
          </a:xfrm>
          <a:prstGeom prst="line">
            <a:avLst/>
          </a:prstGeom>
          <a:ln w="19050">
            <a:solidFill>
              <a:srgbClr val="2860A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93008" y="4471416"/>
            <a:ext cx="356616" cy="201168"/>
          </a:xfrm>
          <a:prstGeom prst="rect">
            <a:avLst/>
          </a:prstGeom>
          <a:noFill/>
        </p:spPr>
        <p:txBody>
          <a:bodyPr wrap="square">
            <a:spAutoFit/>
          </a:bodyPr>
          <a:lstStyle/>
          <a:p>
            <a:pPr algn="ctr"/>
            <a:r>
              <a:rPr sz="800" b="0">
                <a:solidFill>
                  <a:srgbClr val="6A7A8A"/>
                </a:solidFill>
              </a:rPr>
              <a:t>委託</a:t>
            </a:r>
          </a:p>
        </p:txBody>
      </p:sp>
      <p:sp>
        <p:nvSpPr>
          <p:cNvPr id="15" name="TextBox 14"/>
          <p:cNvSpPr txBox="1"/>
          <p:nvPr/>
        </p:nvSpPr>
        <p:spPr>
          <a:xfrm>
            <a:off x="3493008" y="4764024"/>
            <a:ext cx="356616" cy="201168"/>
          </a:xfrm>
          <a:prstGeom prst="rect">
            <a:avLst/>
          </a:prstGeom>
          <a:noFill/>
        </p:spPr>
        <p:txBody>
          <a:bodyPr wrap="square">
            <a:spAutoFit/>
          </a:bodyPr>
          <a:lstStyle/>
          <a:p>
            <a:pPr algn="ctr"/>
            <a:r>
              <a:rPr sz="800" b="0">
                <a:solidFill>
                  <a:srgbClr val="2860A8"/>
                </a:solidFill>
              </a:rPr>
              <a:t>収益還元</a:t>
            </a:r>
          </a:p>
        </p:txBody>
      </p:sp>
      <p:sp>
        <p:nvSpPr>
          <p:cNvPr id="16" name="Rectangle 15"/>
          <p:cNvSpPr/>
          <p:nvPr/>
        </p:nvSpPr>
        <p:spPr>
          <a:xfrm>
            <a:off x="3922776" y="3931920"/>
            <a:ext cx="1920240" cy="1554480"/>
          </a:xfrm>
          <a:prstGeom prst="roundRect">
            <a:avLst>
              <a:gd name="adj" fmla="val 40000"/>
            </a:avLst>
          </a:prstGeom>
          <a:solidFill>
            <a:srgbClr val="1A2E48"/>
          </a:solidFill>
          <a:ln w="12700">
            <a:solidFill>
              <a:srgbClr val="286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22776" y="4041648"/>
            <a:ext cx="1920240" cy="365760"/>
          </a:xfrm>
          <a:prstGeom prst="rect">
            <a:avLst/>
          </a:prstGeom>
          <a:noFill/>
        </p:spPr>
        <p:txBody>
          <a:bodyPr wrap="square">
            <a:spAutoFit/>
          </a:bodyPr>
          <a:lstStyle/>
          <a:p>
            <a:pPr algn="ctr"/>
            <a:r>
              <a:rPr sz="2200" b="0">
                <a:solidFill>
                  <a:srgbClr val="1A2E48"/>
                </a:solidFill>
              </a:rPr>
              <a:t>⚡</a:t>
            </a:r>
          </a:p>
        </p:txBody>
      </p:sp>
      <p:sp>
        <p:nvSpPr>
          <p:cNvPr id="18" name="TextBox 17"/>
          <p:cNvSpPr txBox="1"/>
          <p:nvPr/>
        </p:nvSpPr>
        <p:spPr>
          <a:xfrm>
            <a:off x="3922776" y="4389120"/>
            <a:ext cx="1920240" cy="402336"/>
          </a:xfrm>
          <a:prstGeom prst="rect">
            <a:avLst/>
          </a:prstGeom>
          <a:noFill/>
        </p:spPr>
        <p:txBody>
          <a:bodyPr wrap="square">
            <a:spAutoFit/>
          </a:bodyPr>
          <a:lstStyle/>
          <a:p>
            <a:pPr algn="ctr"/>
            <a:r>
              <a:rPr sz="1100" b="1">
                <a:solidFill>
                  <a:srgbClr val="FFFFFF"/>
                </a:solidFill>
              </a:rPr>
              <a:t>SHIKI×日本住戸
Platform</a:t>
            </a:r>
          </a:p>
        </p:txBody>
      </p:sp>
      <p:sp>
        <p:nvSpPr>
          <p:cNvPr id="19" name="TextBox 18"/>
          <p:cNvSpPr txBox="1"/>
          <p:nvPr/>
        </p:nvSpPr>
        <p:spPr>
          <a:xfrm>
            <a:off x="3922776" y="4773168"/>
            <a:ext cx="1920240" cy="603504"/>
          </a:xfrm>
          <a:prstGeom prst="rect">
            <a:avLst/>
          </a:prstGeom>
          <a:noFill/>
        </p:spPr>
        <p:txBody>
          <a:bodyPr wrap="square">
            <a:spAutoFit/>
          </a:bodyPr>
          <a:lstStyle/>
          <a:p>
            <a:pPr algn="ctr"/>
            <a:r>
              <a:rPr sz="900" b="0">
                <a:solidFill>
                  <a:srgbClr val="AACCEE"/>
                </a:solidFill>
              </a:rPr>
              <a:t>プラットフォーム
運営・管理</a:t>
            </a:r>
          </a:p>
        </p:txBody>
      </p:sp>
      <p:cxnSp>
        <p:nvCxnSpPr>
          <p:cNvPr id="20" name="Connector 19"/>
          <p:cNvCxnSpPr/>
          <p:nvPr/>
        </p:nvCxnSpPr>
        <p:spPr>
          <a:xfrm>
            <a:off x="5916168.0" y="4709160.0"/>
            <a:ext cx="356616.0" cy="0.0"/>
          </a:xfrm>
          <a:prstGeom prst="line">
            <a:avLst/>
          </a:prstGeom>
          <a:ln w="19050">
            <a:solidFill>
              <a:srgbClr val="2860A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16168" y="4471416"/>
            <a:ext cx="356616" cy="201168"/>
          </a:xfrm>
          <a:prstGeom prst="rect">
            <a:avLst/>
          </a:prstGeom>
          <a:noFill/>
        </p:spPr>
        <p:txBody>
          <a:bodyPr wrap="square">
            <a:spAutoFit/>
          </a:bodyPr>
          <a:lstStyle/>
          <a:p>
            <a:pPr algn="ctr"/>
            <a:r>
              <a:rPr sz="800" b="0">
                <a:solidFill>
                  <a:srgbClr val="6A7A8A"/>
                </a:solidFill>
              </a:rPr>
              <a:t>紹介</a:t>
            </a:r>
          </a:p>
        </p:txBody>
      </p:sp>
      <p:sp>
        <p:nvSpPr>
          <p:cNvPr id="22" name="TextBox 21"/>
          <p:cNvSpPr txBox="1"/>
          <p:nvPr/>
        </p:nvSpPr>
        <p:spPr>
          <a:xfrm>
            <a:off x="5916168" y="4764024"/>
            <a:ext cx="356616" cy="201168"/>
          </a:xfrm>
          <a:prstGeom prst="rect">
            <a:avLst/>
          </a:prstGeom>
          <a:noFill/>
        </p:spPr>
        <p:txBody>
          <a:bodyPr wrap="square">
            <a:spAutoFit/>
          </a:bodyPr>
          <a:lstStyle/>
          <a:p>
            <a:pPr algn="ctr"/>
            <a:r>
              <a:rPr sz="800" b="0">
                <a:solidFill>
                  <a:srgbClr val="2860A8"/>
                </a:solidFill>
              </a:rPr>
              <a:t>手数料</a:t>
            </a:r>
          </a:p>
        </p:txBody>
      </p:sp>
      <p:sp>
        <p:nvSpPr>
          <p:cNvPr id="23" name="Rectangle 22"/>
          <p:cNvSpPr/>
          <p:nvPr/>
        </p:nvSpPr>
        <p:spPr>
          <a:xfrm>
            <a:off x="6345936" y="3931920"/>
            <a:ext cx="1920240" cy="15544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45936" y="4041648"/>
            <a:ext cx="1920240" cy="365760"/>
          </a:xfrm>
          <a:prstGeom prst="rect">
            <a:avLst/>
          </a:prstGeom>
          <a:noFill/>
        </p:spPr>
        <p:txBody>
          <a:bodyPr wrap="square">
            <a:spAutoFit/>
          </a:bodyPr>
          <a:lstStyle/>
          <a:p>
            <a:pPr algn="ctr"/>
            <a:r>
              <a:rPr sz="2200" b="0">
                <a:solidFill>
                  <a:srgbClr val="1A2E48"/>
                </a:solidFill>
              </a:rPr>
              <a:t>🏪</a:t>
            </a:r>
          </a:p>
        </p:txBody>
      </p:sp>
      <p:sp>
        <p:nvSpPr>
          <p:cNvPr id="25" name="TextBox 24"/>
          <p:cNvSpPr txBox="1"/>
          <p:nvPr/>
        </p:nvSpPr>
        <p:spPr>
          <a:xfrm>
            <a:off x="6345936" y="4389120"/>
            <a:ext cx="1920240" cy="402336"/>
          </a:xfrm>
          <a:prstGeom prst="rect">
            <a:avLst/>
          </a:prstGeom>
          <a:noFill/>
        </p:spPr>
        <p:txBody>
          <a:bodyPr wrap="square">
            <a:spAutoFit/>
          </a:bodyPr>
          <a:lstStyle/>
          <a:p>
            <a:pPr algn="ctr"/>
            <a:r>
              <a:rPr sz="1100" b="1">
                <a:solidFill>
                  <a:srgbClr val="1A2E48"/>
                </a:solidFill>
              </a:rPr>
              <a:t>仲介会社</a:t>
            </a:r>
          </a:p>
        </p:txBody>
      </p:sp>
      <p:sp>
        <p:nvSpPr>
          <p:cNvPr id="26" name="TextBox 25"/>
          <p:cNvSpPr txBox="1"/>
          <p:nvPr/>
        </p:nvSpPr>
        <p:spPr>
          <a:xfrm>
            <a:off x="6345936" y="4773168"/>
            <a:ext cx="1920240" cy="603504"/>
          </a:xfrm>
          <a:prstGeom prst="rect">
            <a:avLst/>
          </a:prstGeom>
          <a:noFill/>
        </p:spPr>
        <p:txBody>
          <a:bodyPr wrap="square">
            <a:spAutoFit/>
          </a:bodyPr>
          <a:lstStyle/>
          <a:p>
            <a:pPr algn="ctr"/>
            <a:r>
              <a:rPr sz="900" b="0">
                <a:solidFill>
                  <a:srgbClr val="6A7A8A"/>
                </a:solidFill>
              </a:rPr>
              <a:t>手数料収入
ストック収益</a:t>
            </a:r>
          </a:p>
        </p:txBody>
      </p:sp>
      <p:cxnSp>
        <p:nvCxnSpPr>
          <p:cNvPr id="27" name="Connector 26"/>
          <p:cNvCxnSpPr/>
          <p:nvPr/>
        </p:nvCxnSpPr>
        <p:spPr>
          <a:xfrm>
            <a:off x="8339328.0" y="4709160.0"/>
            <a:ext cx="356616.0" cy="0.0"/>
          </a:xfrm>
          <a:prstGeom prst="line">
            <a:avLst/>
          </a:prstGeom>
          <a:ln w="19050">
            <a:solidFill>
              <a:srgbClr val="2860A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339328" y="4471416"/>
            <a:ext cx="356616" cy="201168"/>
          </a:xfrm>
          <a:prstGeom prst="rect">
            <a:avLst/>
          </a:prstGeom>
          <a:noFill/>
        </p:spPr>
        <p:txBody>
          <a:bodyPr wrap="square">
            <a:spAutoFit/>
          </a:bodyPr>
          <a:lstStyle/>
          <a:p>
            <a:pPr algn="ctr"/>
            <a:r>
              <a:rPr sz="800" b="0">
                <a:solidFill>
                  <a:srgbClr val="6A7A8A"/>
                </a:solidFill>
              </a:rPr>
              <a:t>マッチング</a:t>
            </a:r>
          </a:p>
        </p:txBody>
      </p:sp>
      <p:sp>
        <p:nvSpPr>
          <p:cNvPr id="29" name="TextBox 28"/>
          <p:cNvSpPr txBox="1"/>
          <p:nvPr/>
        </p:nvSpPr>
        <p:spPr>
          <a:xfrm>
            <a:off x="8339328" y="4764024"/>
            <a:ext cx="356616" cy="201168"/>
          </a:xfrm>
          <a:prstGeom prst="rect">
            <a:avLst/>
          </a:prstGeom>
          <a:noFill/>
        </p:spPr>
        <p:txBody>
          <a:bodyPr wrap="square">
            <a:spAutoFit/>
          </a:bodyPr>
          <a:lstStyle/>
          <a:p>
            <a:pPr algn="ctr"/>
            <a:r>
              <a:rPr sz="800" b="0">
                <a:solidFill>
                  <a:srgbClr val="2860A8"/>
                </a:solidFill>
              </a:rPr>
              <a:t>月500円〜</a:t>
            </a:r>
          </a:p>
        </p:txBody>
      </p:sp>
      <p:sp>
        <p:nvSpPr>
          <p:cNvPr id="30" name="Rectangle 29"/>
          <p:cNvSpPr/>
          <p:nvPr/>
        </p:nvSpPr>
        <p:spPr>
          <a:xfrm>
            <a:off x="8769096" y="3931920"/>
            <a:ext cx="1920240" cy="15544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69096" y="4041648"/>
            <a:ext cx="1920240" cy="365760"/>
          </a:xfrm>
          <a:prstGeom prst="rect">
            <a:avLst/>
          </a:prstGeom>
          <a:noFill/>
        </p:spPr>
        <p:txBody>
          <a:bodyPr wrap="square">
            <a:spAutoFit/>
          </a:bodyPr>
          <a:lstStyle/>
          <a:p>
            <a:pPr algn="ctr"/>
            <a:r>
              <a:rPr sz="2200" b="0">
                <a:solidFill>
                  <a:srgbClr val="1A2E48"/>
                </a:solidFill>
              </a:rPr>
              <a:t>👤</a:t>
            </a:r>
          </a:p>
        </p:txBody>
      </p:sp>
      <p:sp>
        <p:nvSpPr>
          <p:cNvPr id="32" name="TextBox 31"/>
          <p:cNvSpPr txBox="1"/>
          <p:nvPr/>
        </p:nvSpPr>
        <p:spPr>
          <a:xfrm>
            <a:off x="8769096" y="4389120"/>
            <a:ext cx="1920240" cy="402336"/>
          </a:xfrm>
          <a:prstGeom prst="rect">
            <a:avLst/>
          </a:prstGeom>
          <a:noFill/>
        </p:spPr>
        <p:txBody>
          <a:bodyPr wrap="square">
            <a:spAutoFit/>
          </a:bodyPr>
          <a:lstStyle/>
          <a:p>
            <a:pPr algn="ctr"/>
            <a:r>
              <a:rPr sz="1100" b="1">
                <a:solidFill>
                  <a:srgbClr val="1A2E48"/>
                </a:solidFill>
              </a:rPr>
              <a:t>入 居 者</a:t>
            </a:r>
          </a:p>
        </p:txBody>
      </p:sp>
      <p:sp>
        <p:nvSpPr>
          <p:cNvPr id="33" name="TextBox 32"/>
          <p:cNvSpPr txBox="1"/>
          <p:nvPr/>
        </p:nvSpPr>
        <p:spPr>
          <a:xfrm>
            <a:off x="8769096" y="4773168"/>
            <a:ext cx="1920240" cy="603504"/>
          </a:xfrm>
          <a:prstGeom prst="rect">
            <a:avLst/>
          </a:prstGeom>
          <a:noFill/>
        </p:spPr>
        <p:txBody>
          <a:bodyPr wrap="square">
            <a:spAutoFit/>
          </a:bodyPr>
          <a:lstStyle/>
          <a:p>
            <a:pPr algn="ctr"/>
            <a:r>
              <a:rPr sz="900" b="0">
                <a:solidFill>
                  <a:srgbClr val="6A7A8A"/>
                </a:solidFill>
              </a:rPr>
              <a:t>月500円〜
付帯サービス享受</a:t>
            </a:r>
          </a:p>
        </p:txBody>
      </p:sp>
      <p:sp>
        <p:nvSpPr>
          <p:cNvPr id="34" name="Rectangle 33"/>
          <p:cNvSpPr/>
          <p:nvPr/>
        </p:nvSpPr>
        <p:spPr>
          <a:xfrm>
            <a:off x="320040" y="5760720"/>
            <a:ext cx="3678936" cy="8686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852160"/>
            <a:ext cx="3404616" cy="201168"/>
          </a:xfrm>
          <a:prstGeom prst="rect">
            <a:avLst/>
          </a:prstGeom>
          <a:noFill/>
        </p:spPr>
        <p:txBody>
          <a:bodyPr wrap="square">
            <a:spAutoFit/>
          </a:bodyPr>
          <a:lstStyle/>
          <a:p>
            <a:pPr algn="l"/>
            <a:r>
              <a:rPr sz="700" b="0">
                <a:solidFill>
                  <a:srgbClr val="6A7A8A"/>
                </a:solidFill>
              </a:rPr>
              <a:t>FEATURE 01</a:t>
            </a:r>
          </a:p>
        </p:txBody>
      </p:sp>
      <p:sp>
        <p:nvSpPr>
          <p:cNvPr id="36" name="TextBox 35"/>
          <p:cNvSpPr txBox="1"/>
          <p:nvPr/>
        </p:nvSpPr>
        <p:spPr>
          <a:xfrm>
            <a:off x="457200" y="6016752"/>
            <a:ext cx="3404616" cy="256032"/>
          </a:xfrm>
          <a:prstGeom prst="rect">
            <a:avLst/>
          </a:prstGeom>
          <a:noFill/>
        </p:spPr>
        <p:txBody>
          <a:bodyPr wrap="square">
            <a:spAutoFit/>
          </a:bodyPr>
          <a:lstStyle/>
          <a:p>
            <a:pPr algn="l"/>
            <a:r>
              <a:rPr sz="1100" b="1">
                <a:solidFill>
                  <a:srgbClr val="1A2E48"/>
                </a:solidFill>
              </a:rPr>
              <a:t>月次サブスクリプション</a:t>
            </a:r>
          </a:p>
        </p:txBody>
      </p:sp>
      <p:sp>
        <p:nvSpPr>
          <p:cNvPr id="37" name="TextBox 36"/>
          <p:cNvSpPr txBox="1"/>
          <p:nvPr/>
        </p:nvSpPr>
        <p:spPr>
          <a:xfrm>
            <a:off x="457200" y="6272784"/>
            <a:ext cx="3404616" cy="274320"/>
          </a:xfrm>
          <a:prstGeom prst="rect">
            <a:avLst/>
          </a:prstGeom>
          <a:noFill/>
        </p:spPr>
        <p:txBody>
          <a:bodyPr wrap="square">
            <a:spAutoFit/>
          </a:bodyPr>
          <a:lstStyle/>
          <a:p>
            <a:pPr algn="l"/>
            <a:r>
              <a:rPr sz="900" b="0">
                <a:solidFill>
                  <a:srgbClr val="6A7A8A"/>
                </a:solidFill>
              </a:rPr>
              <a:t>入居期間中継続的な収益を確保</a:t>
            </a:r>
          </a:p>
        </p:txBody>
      </p:sp>
      <p:sp>
        <p:nvSpPr>
          <p:cNvPr id="38" name="Rectangle 37"/>
          <p:cNvSpPr/>
          <p:nvPr/>
        </p:nvSpPr>
        <p:spPr>
          <a:xfrm>
            <a:off x="4255008" y="5760720"/>
            <a:ext cx="3678936" cy="8686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92168" y="5852160"/>
            <a:ext cx="3404616" cy="201168"/>
          </a:xfrm>
          <a:prstGeom prst="rect">
            <a:avLst/>
          </a:prstGeom>
          <a:noFill/>
        </p:spPr>
        <p:txBody>
          <a:bodyPr wrap="square">
            <a:spAutoFit/>
          </a:bodyPr>
          <a:lstStyle/>
          <a:p>
            <a:pPr algn="l"/>
            <a:r>
              <a:rPr sz="700" b="0">
                <a:solidFill>
                  <a:srgbClr val="6A7A8A"/>
                </a:solidFill>
              </a:rPr>
              <a:t>FEATURE 02</a:t>
            </a:r>
          </a:p>
        </p:txBody>
      </p:sp>
      <p:sp>
        <p:nvSpPr>
          <p:cNvPr id="40" name="TextBox 39"/>
          <p:cNvSpPr txBox="1"/>
          <p:nvPr/>
        </p:nvSpPr>
        <p:spPr>
          <a:xfrm>
            <a:off x="4392168" y="6016752"/>
            <a:ext cx="3404616" cy="256032"/>
          </a:xfrm>
          <a:prstGeom prst="rect">
            <a:avLst/>
          </a:prstGeom>
          <a:noFill/>
        </p:spPr>
        <p:txBody>
          <a:bodyPr wrap="square">
            <a:spAutoFit/>
          </a:bodyPr>
          <a:lstStyle/>
          <a:p>
            <a:pPr algn="l"/>
            <a:r>
              <a:rPr sz="1100" b="1">
                <a:solidFill>
                  <a:srgbClr val="1A2E48"/>
                </a:solidFill>
              </a:rPr>
              <a:t>複数収益源の統合</a:t>
            </a:r>
          </a:p>
        </p:txBody>
      </p:sp>
      <p:sp>
        <p:nvSpPr>
          <p:cNvPr id="41" name="TextBox 40"/>
          <p:cNvSpPr txBox="1"/>
          <p:nvPr/>
        </p:nvSpPr>
        <p:spPr>
          <a:xfrm>
            <a:off x="4392168" y="6272784"/>
            <a:ext cx="3404616" cy="274320"/>
          </a:xfrm>
          <a:prstGeom prst="rect">
            <a:avLst/>
          </a:prstGeom>
          <a:noFill/>
        </p:spPr>
        <p:txBody>
          <a:bodyPr wrap="square">
            <a:spAutoFit/>
          </a:bodyPr>
          <a:lstStyle/>
          <a:p>
            <a:pPr algn="l"/>
            <a:r>
              <a:rPr sz="900" b="0">
                <a:solidFill>
                  <a:srgbClr val="6A7A8A"/>
                </a:solidFill>
              </a:rPr>
              <a:t>電気・コンテンツ・ネットを一本化</a:t>
            </a:r>
          </a:p>
        </p:txBody>
      </p:sp>
      <p:sp>
        <p:nvSpPr>
          <p:cNvPr id="42" name="Rectangle 41"/>
          <p:cNvSpPr/>
          <p:nvPr/>
        </p:nvSpPr>
        <p:spPr>
          <a:xfrm>
            <a:off x="8189976" y="5760720"/>
            <a:ext cx="3678936" cy="86868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7136" y="5852160"/>
            <a:ext cx="3404616" cy="201168"/>
          </a:xfrm>
          <a:prstGeom prst="rect">
            <a:avLst/>
          </a:prstGeom>
          <a:noFill/>
        </p:spPr>
        <p:txBody>
          <a:bodyPr wrap="square">
            <a:spAutoFit/>
          </a:bodyPr>
          <a:lstStyle/>
          <a:p>
            <a:pPr algn="l"/>
            <a:r>
              <a:rPr sz="700" b="0">
                <a:solidFill>
                  <a:srgbClr val="6A7A8A"/>
                </a:solidFill>
              </a:rPr>
              <a:t>FEATURE 03</a:t>
            </a:r>
          </a:p>
        </p:txBody>
      </p:sp>
      <p:sp>
        <p:nvSpPr>
          <p:cNvPr id="44" name="TextBox 43"/>
          <p:cNvSpPr txBox="1"/>
          <p:nvPr/>
        </p:nvSpPr>
        <p:spPr>
          <a:xfrm>
            <a:off x="8327136" y="6016752"/>
            <a:ext cx="3404616" cy="256032"/>
          </a:xfrm>
          <a:prstGeom prst="rect">
            <a:avLst/>
          </a:prstGeom>
          <a:noFill/>
        </p:spPr>
        <p:txBody>
          <a:bodyPr wrap="square">
            <a:spAutoFit/>
          </a:bodyPr>
          <a:lstStyle/>
          <a:p>
            <a:pPr algn="l"/>
            <a:r>
              <a:rPr sz="1100" b="1">
                <a:solidFill>
                  <a:srgbClr val="1A2E48"/>
                </a:solidFill>
              </a:rPr>
              <a:t>スケーラブル設計</a:t>
            </a:r>
          </a:p>
        </p:txBody>
      </p:sp>
      <p:sp>
        <p:nvSpPr>
          <p:cNvPr id="45" name="TextBox 44"/>
          <p:cNvSpPr txBox="1"/>
          <p:nvPr/>
        </p:nvSpPr>
        <p:spPr>
          <a:xfrm>
            <a:off x="8327136" y="6272784"/>
            <a:ext cx="3404616" cy="274320"/>
          </a:xfrm>
          <a:prstGeom prst="rect">
            <a:avLst/>
          </a:prstGeom>
          <a:noFill/>
        </p:spPr>
        <p:txBody>
          <a:bodyPr wrap="square">
            <a:spAutoFit/>
          </a:bodyPr>
          <a:lstStyle/>
          <a:p>
            <a:pPr algn="l"/>
            <a:r>
              <a:rPr sz="900" b="0">
                <a:solidFill>
                  <a:srgbClr val="6A7A8A"/>
                </a:solidFill>
              </a:rPr>
              <a:t>戸数増加に応じたストック積み上げ</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03 / Broker Network</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仲 介 ネ ッ ト ワ ー ク</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SHIKIネットワークを踏襲</a:t>
            </a:r>
          </a:p>
        </p:txBody>
      </p:sp>
      <p:sp>
        <p:nvSpPr>
          <p:cNvPr id="6" name="Rectangle 5"/>
          <p:cNvSpPr/>
          <p:nvPr/>
        </p:nvSpPr>
        <p:spPr>
          <a:xfrm>
            <a:off x="2183130" y="1161288"/>
            <a:ext cx="1920240" cy="1920240"/>
          </a:xfrm>
          <a:prstGeom prst="roundRect">
            <a:avLst>
              <a:gd name="adj" fmla="val 180000"/>
            </a:avLst>
          </a:prstGeom>
          <a:solidFill>
            <a:srgbClr val="1A2E48"/>
          </a:solidFill>
          <a:ln w="12700">
            <a:solidFill>
              <a:srgbClr val="286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83130" y="1344168"/>
            <a:ext cx="1920240" cy="329184"/>
          </a:xfrm>
          <a:prstGeom prst="rect">
            <a:avLst/>
          </a:prstGeom>
          <a:noFill/>
        </p:spPr>
        <p:txBody>
          <a:bodyPr wrap="square">
            <a:spAutoFit/>
          </a:bodyPr>
          <a:lstStyle/>
          <a:p>
            <a:pPr algn="ctr"/>
            <a:r>
              <a:rPr sz="2000" b="0">
                <a:solidFill>
                  <a:srgbClr val="1A2E48"/>
                </a:solidFill>
              </a:rPr>
              <a:t>🔗</a:t>
            </a:r>
          </a:p>
        </p:txBody>
      </p:sp>
      <p:sp>
        <p:nvSpPr>
          <p:cNvPr id="8" name="TextBox 7"/>
          <p:cNvSpPr txBox="1"/>
          <p:nvPr/>
        </p:nvSpPr>
        <p:spPr>
          <a:xfrm>
            <a:off x="2183130" y="1664208"/>
            <a:ext cx="1920240" cy="256032"/>
          </a:xfrm>
          <a:prstGeom prst="rect">
            <a:avLst/>
          </a:prstGeom>
          <a:noFill/>
        </p:spPr>
        <p:txBody>
          <a:bodyPr wrap="square">
            <a:spAutoFit/>
          </a:bodyPr>
          <a:lstStyle/>
          <a:p>
            <a:pPr algn="ctr"/>
            <a:r>
              <a:rPr sz="1200" b="1">
                <a:solidFill>
                  <a:srgbClr val="FFFFFF"/>
                </a:solidFill>
              </a:rPr>
              <a:t>SHIKI</a:t>
            </a:r>
          </a:p>
        </p:txBody>
      </p:sp>
      <p:sp>
        <p:nvSpPr>
          <p:cNvPr id="9" name="TextBox 8"/>
          <p:cNvSpPr txBox="1"/>
          <p:nvPr/>
        </p:nvSpPr>
        <p:spPr>
          <a:xfrm>
            <a:off x="2183130" y="1892808"/>
            <a:ext cx="1920240" cy="201168"/>
          </a:xfrm>
          <a:prstGeom prst="rect">
            <a:avLst/>
          </a:prstGeom>
          <a:noFill/>
        </p:spPr>
        <p:txBody>
          <a:bodyPr wrap="square">
            <a:spAutoFit/>
          </a:bodyPr>
          <a:lstStyle/>
          <a:p>
            <a:pPr algn="ctr"/>
            <a:r>
              <a:rPr sz="1000" b="0">
                <a:solidFill>
                  <a:srgbClr val="4A90C8"/>
                </a:solidFill>
              </a:rPr>
              <a:t>Platform</a:t>
            </a:r>
          </a:p>
        </p:txBody>
      </p:sp>
      <p:sp>
        <p:nvSpPr>
          <p:cNvPr id="10" name="TextBox 9"/>
          <p:cNvSpPr txBox="1"/>
          <p:nvPr/>
        </p:nvSpPr>
        <p:spPr>
          <a:xfrm>
            <a:off x="2183130" y="2112264"/>
            <a:ext cx="1920240" cy="201168"/>
          </a:xfrm>
          <a:prstGeom prst="rect">
            <a:avLst/>
          </a:prstGeom>
          <a:noFill/>
        </p:spPr>
        <p:txBody>
          <a:bodyPr wrap="square">
            <a:spAutoFit/>
          </a:bodyPr>
          <a:lstStyle/>
          <a:p>
            <a:pPr algn="ctr"/>
            <a:r>
              <a:rPr sz="900" b="0">
                <a:solidFill>
                  <a:srgbClr val="AACCEE"/>
                </a:solidFill>
              </a:rPr>
              <a:t>全国対応</a:t>
            </a:r>
          </a:p>
        </p:txBody>
      </p:sp>
      <p:sp>
        <p:nvSpPr>
          <p:cNvPr id="11" name="Rectangle 10"/>
          <p:cNvSpPr/>
          <p:nvPr/>
        </p:nvSpPr>
        <p:spPr>
          <a:xfrm>
            <a:off x="320040" y="3493008"/>
            <a:ext cx="2731770" cy="658368"/>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3547872"/>
            <a:ext cx="2731770" cy="329184"/>
          </a:xfrm>
          <a:prstGeom prst="rect">
            <a:avLst/>
          </a:prstGeom>
          <a:noFill/>
        </p:spPr>
        <p:txBody>
          <a:bodyPr wrap="square">
            <a:spAutoFit/>
          </a:bodyPr>
          <a:lstStyle/>
          <a:p>
            <a:pPr algn="ctr"/>
            <a:r>
              <a:rPr sz="1600" b="1">
                <a:solidFill>
                  <a:srgbClr val="2860A8"/>
                </a:solidFill>
              </a:rPr>
              <a:t>●●社</a:t>
            </a:r>
          </a:p>
        </p:txBody>
      </p:sp>
      <p:sp>
        <p:nvSpPr>
          <p:cNvPr id="13" name="TextBox 12"/>
          <p:cNvSpPr txBox="1"/>
          <p:nvPr/>
        </p:nvSpPr>
        <p:spPr>
          <a:xfrm>
            <a:off x="320040" y="3877056"/>
            <a:ext cx="2731770" cy="219456"/>
          </a:xfrm>
          <a:prstGeom prst="rect">
            <a:avLst/>
          </a:prstGeom>
          <a:noFill/>
        </p:spPr>
        <p:txBody>
          <a:bodyPr wrap="square">
            <a:spAutoFit/>
          </a:bodyPr>
          <a:lstStyle/>
          <a:p>
            <a:pPr algn="ctr"/>
            <a:r>
              <a:rPr sz="800" b="0">
                <a:solidFill>
                  <a:srgbClr val="6A7A8A"/>
                </a:solidFill>
              </a:rPr>
              <a:t>提携仲介会社数</a:t>
            </a:r>
          </a:p>
        </p:txBody>
      </p:sp>
      <p:sp>
        <p:nvSpPr>
          <p:cNvPr id="14" name="Rectangle 13"/>
          <p:cNvSpPr/>
          <p:nvPr/>
        </p:nvSpPr>
        <p:spPr>
          <a:xfrm>
            <a:off x="3216402" y="3493008"/>
            <a:ext cx="2731770" cy="658368"/>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16402" y="3547872"/>
            <a:ext cx="2731770" cy="329184"/>
          </a:xfrm>
          <a:prstGeom prst="rect">
            <a:avLst/>
          </a:prstGeom>
          <a:noFill/>
        </p:spPr>
        <p:txBody>
          <a:bodyPr wrap="square">
            <a:spAutoFit/>
          </a:bodyPr>
          <a:lstStyle/>
          <a:p>
            <a:pPr algn="ctr"/>
            <a:r>
              <a:rPr sz="1600" b="1">
                <a:solidFill>
                  <a:srgbClr val="2860A8"/>
                </a:solidFill>
              </a:rPr>
              <a:t>●●都道府県</a:t>
            </a:r>
          </a:p>
        </p:txBody>
      </p:sp>
      <p:sp>
        <p:nvSpPr>
          <p:cNvPr id="16" name="TextBox 15"/>
          <p:cNvSpPr txBox="1"/>
          <p:nvPr/>
        </p:nvSpPr>
        <p:spPr>
          <a:xfrm>
            <a:off x="3216402" y="3877056"/>
            <a:ext cx="2731770" cy="219456"/>
          </a:xfrm>
          <a:prstGeom prst="rect">
            <a:avLst/>
          </a:prstGeom>
          <a:noFill/>
        </p:spPr>
        <p:txBody>
          <a:bodyPr wrap="square">
            <a:spAutoFit/>
          </a:bodyPr>
          <a:lstStyle/>
          <a:p>
            <a:pPr algn="ctr"/>
            <a:r>
              <a:rPr sz="800" b="0">
                <a:solidFill>
                  <a:srgbClr val="6A7A8A"/>
                </a:solidFill>
              </a:rPr>
              <a:t>カバーエリア</a:t>
            </a:r>
          </a:p>
        </p:txBody>
      </p:sp>
      <p:sp>
        <p:nvSpPr>
          <p:cNvPr id="17" name="Rectangle 16"/>
          <p:cNvSpPr/>
          <p:nvPr/>
        </p:nvSpPr>
        <p:spPr>
          <a:xfrm>
            <a:off x="320040" y="4242816"/>
            <a:ext cx="2731770" cy="658368"/>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4297680"/>
            <a:ext cx="2731770" cy="329184"/>
          </a:xfrm>
          <a:prstGeom prst="rect">
            <a:avLst/>
          </a:prstGeom>
          <a:noFill/>
        </p:spPr>
        <p:txBody>
          <a:bodyPr wrap="square">
            <a:spAutoFit/>
          </a:bodyPr>
          <a:lstStyle/>
          <a:p>
            <a:pPr algn="ctr"/>
            <a:r>
              <a:rPr sz="1600" b="1">
                <a:solidFill>
                  <a:srgbClr val="2860A8"/>
                </a:solidFill>
              </a:rPr>
              <a:t>●●万戸</a:t>
            </a:r>
          </a:p>
        </p:txBody>
      </p:sp>
      <p:sp>
        <p:nvSpPr>
          <p:cNvPr id="19" name="TextBox 18"/>
          <p:cNvSpPr txBox="1"/>
          <p:nvPr/>
        </p:nvSpPr>
        <p:spPr>
          <a:xfrm>
            <a:off x="320040" y="4626864"/>
            <a:ext cx="2731770" cy="219456"/>
          </a:xfrm>
          <a:prstGeom prst="rect">
            <a:avLst/>
          </a:prstGeom>
          <a:noFill/>
        </p:spPr>
        <p:txBody>
          <a:bodyPr wrap="square">
            <a:spAutoFit/>
          </a:bodyPr>
          <a:lstStyle/>
          <a:p>
            <a:pPr algn="ctr"/>
            <a:r>
              <a:rPr sz="800" b="0">
                <a:solidFill>
                  <a:srgbClr val="6A7A8A"/>
                </a:solidFill>
              </a:rPr>
              <a:t>管理物件数</a:t>
            </a:r>
          </a:p>
        </p:txBody>
      </p:sp>
      <p:sp>
        <p:nvSpPr>
          <p:cNvPr id="20" name="Rectangle 19"/>
          <p:cNvSpPr/>
          <p:nvPr/>
        </p:nvSpPr>
        <p:spPr>
          <a:xfrm>
            <a:off x="3216402" y="4242816"/>
            <a:ext cx="2731770" cy="658368"/>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16402" y="4297680"/>
            <a:ext cx="2731770" cy="329184"/>
          </a:xfrm>
          <a:prstGeom prst="rect">
            <a:avLst/>
          </a:prstGeom>
          <a:noFill/>
        </p:spPr>
        <p:txBody>
          <a:bodyPr wrap="square">
            <a:spAutoFit/>
          </a:bodyPr>
          <a:lstStyle/>
          <a:p>
            <a:pPr algn="ctr"/>
            <a:r>
              <a:rPr sz="1600" b="1">
                <a:solidFill>
                  <a:srgbClr val="2860A8"/>
                </a:solidFill>
              </a:rPr>
              <a:t>●●年</a:t>
            </a:r>
          </a:p>
        </p:txBody>
      </p:sp>
      <p:sp>
        <p:nvSpPr>
          <p:cNvPr id="22" name="TextBox 21"/>
          <p:cNvSpPr txBox="1"/>
          <p:nvPr/>
        </p:nvSpPr>
        <p:spPr>
          <a:xfrm>
            <a:off x="3216402" y="4626864"/>
            <a:ext cx="2731770" cy="219456"/>
          </a:xfrm>
          <a:prstGeom prst="rect">
            <a:avLst/>
          </a:prstGeom>
          <a:noFill/>
        </p:spPr>
        <p:txBody>
          <a:bodyPr wrap="square">
            <a:spAutoFit/>
          </a:bodyPr>
          <a:lstStyle/>
          <a:p>
            <a:pPr algn="ctr"/>
            <a:r>
              <a:rPr sz="800" b="0">
                <a:solidFill>
                  <a:srgbClr val="6A7A8A"/>
                </a:solidFill>
              </a:rPr>
              <a:t>構築年数</a:t>
            </a:r>
          </a:p>
        </p:txBody>
      </p:sp>
      <p:sp>
        <p:nvSpPr>
          <p:cNvPr id="23" name="Rectangle 22"/>
          <p:cNvSpPr/>
          <p:nvPr/>
        </p:nvSpPr>
        <p:spPr>
          <a:xfrm>
            <a:off x="6222492" y="2217420"/>
            <a:ext cx="5646420" cy="68580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2354580"/>
            <a:ext cx="329184" cy="347472"/>
          </a:xfrm>
          <a:prstGeom prst="rect">
            <a:avLst/>
          </a:prstGeom>
          <a:noFill/>
        </p:spPr>
        <p:txBody>
          <a:bodyPr wrap="square">
            <a:spAutoFit/>
          </a:bodyPr>
          <a:lstStyle/>
          <a:p>
            <a:pPr algn="l"/>
            <a:r>
              <a:rPr sz="1800" b="0">
                <a:solidFill>
                  <a:srgbClr val="1A2E48"/>
                </a:solidFill>
              </a:rPr>
              <a:t>🏪</a:t>
            </a:r>
          </a:p>
        </p:txBody>
      </p:sp>
      <p:sp>
        <p:nvSpPr>
          <p:cNvPr id="25" name="TextBox 24"/>
          <p:cNvSpPr txBox="1"/>
          <p:nvPr/>
        </p:nvSpPr>
        <p:spPr>
          <a:xfrm>
            <a:off x="6752844" y="2308860"/>
            <a:ext cx="4988052" cy="256032"/>
          </a:xfrm>
          <a:prstGeom prst="rect">
            <a:avLst/>
          </a:prstGeom>
          <a:noFill/>
        </p:spPr>
        <p:txBody>
          <a:bodyPr wrap="square">
            <a:spAutoFit/>
          </a:bodyPr>
          <a:lstStyle/>
          <a:p>
            <a:pPr algn="l"/>
            <a:r>
              <a:rPr sz="1100" b="1">
                <a:solidFill>
                  <a:srgbClr val="1A2E48"/>
                </a:solidFill>
              </a:rPr>
              <a:t>大手仲介チェーン</a:t>
            </a:r>
          </a:p>
        </p:txBody>
      </p:sp>
      <p:sp>
        <p:nvSpPr>
          <p:cNvPr id="26" name="TextBox 25"/>
          <p:cNvSpPr txBox="1"/>
          <p:nvPr/>
        </p:nvSpPr>
        <p:spPr>
          <a:xfrm>
            <a:off x="6752844" y="2564892"/>
            <a:ext cx="4988052" cy="256032"/>
          </a:xfrm>
          <a:prstGeom prst="rect">
            <a:avLst/>
          </a:prstGeom>
          <a:noFill/>
        </p:spPr>
        <p:txBody>
          <a:bodyPr wrap="square">
            <a:spAutoFit/>
          </a:bodyPr>
          <a:lstStyle/>
          <a:p>
            <a:pPr algn="l"/>
            <a:r>
              <a:rPr sz="900" b="0">
                <a:solidFill>
                  <a:srgbClr val="6A7A8A"/>
                </a:solidFill>
              </a:rPr>
              <a:t>全国展開の大手不動産会社と直接提携</a:t>
            </a:r>
          </a:p>
        </p:txBody>
      </p:sp>
      <p:sp>
        <p:nvSpPr>
          <p:cNvPr id="27" name="Rectangle 26"/>
          <p:cNvSpPr/>
          <p:nvPr/>
        </p:nvSpPr>
        <p:spPr>
          <a:xfrm>
            <a:off x="6222492" y="3031236"/>
            <a:ext cx="5646420" cy="68580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9652" y="3168396"/>
            <a:ext cx="329184" cy="347472"/>
          </a:xfrm>
          <a:prstGeom prst="rect">
            <a:avLst/>
          </a:prstGeom>
          <a:noFill/>
        </p:spPr>
        <p:txBody>
          <a:bodyPr wrap="square">
            <a:spAutoFit/>
          </a:bodyPr>
          <a:lstStyle/>
          <a:p>
            <a:pPr algn="l"/>
            <a:r>
              <a:rPr sz="1800" b="0">
                <a:solidFill>
                  <a:srgbClr val="1A2E48"/>
                </a:solidFill>
              </a:rPr>
              <a:t>🏘️</a:t>
            </a:r>
          </a:p>
        </p:txBody>
      </p:sp>
      <p:sp>
        <p:nvSpPr>
          <p:cNvPr id="29" name="TextBox 28"/>
          <p:cNvSpPr txBox="1"/>
          <p:nvPr/>
        </p:nvSpPr>
        <p:spPr>
          <a:xfrm>
            <a:off x="6752844" y="3122676"/>
            <a:ext cx="4988052" cy="256032"/>
          </a:xfrm>
          <a:prstGeom prst="rect">
            <a:avLst/>
          </a:prstGeom>
          <a:noFill/>
        </p:spPr>
        <p:txBody>
          <a:bodyPr wrap="square">
            <a:spAutoFit/>
          </a:bodyPr>
          <a:lstStyle/>
          <a:p>
            <a:pPr algn="l"/>
            <a:r>
              <a:rPr sz="1100" b="1">
                <a:solidFill>
                  <a:srgbClr val="1A2E48"/>
                </a:solidFill>
              </a:rPr>
              <a:t>地域密着型仲介</a:t>
            </a:r>
          </a:p>
        </p:txBody>
      </p:sp>
      <p:sp>
        <p:nvSpPr>
          <p:cNvPr id="30" name="TextBox 29"/>
          <p:cNvSpPr txBox="1"/>
          <p:nvPr/>
        </p:nvSpPr>
        <p:spPr>
          <a:xfrm>
            <a:off x="6752844" y="3378708"/>
            <a:ext cx="4988052" cy="256032"/>
          </a:xfrm>
          <a:prstGeom prst="rect">
            <a:avLst/>
          </a:prstGeom>
          <a:noFill/>
        </p:spPr>
        <p:txBody>
          <a:bodyPr wrap="square">
            <a:spAutoFit/>
          </a:bodyPr>
          <a:lstStyle/>
          <a:p>
            <a:pPr algn="l"/>
            <a:r>
              <a:rPr sz="900" b="0">
                <a:solidFill>
                  <a:srgbClr val="6A7A8A"/>
                </a:solidFill>
              </a:rPr>
              <a:t>地元に根付いた中小仲介会社ネットワーク</a:t>
            </a:r>
          </a:p>
        </p:txBody>
      </p:sp>
      <p:sp>
        <p:nvSpPr>
          <p:cNvPr id="31" name="Rectangle 30"/>
          <p:cNvSpPr/>
          <p:nvPr/>
        </p:nvSpPr>
        <p:spPr>
          <a:xfrm>
            <a:off x="6222492" y="3845052"/>
            <a:ext cx="5646420" cy="68580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9652" y="3982212"/>
            <a:ext cx="329184" cy="347472"/>
          </a:xfrm>
          <a:prstGeom prst="rect">
            <a:avLst/>
          </a:prstGeom>
          <a:noFill/>
        </p:spPr>
        <p:txBody>
          <a:bodyPr wrap="square">
            <a:spAutoFit/>
          </a:bodyPr>
          <a:lstStyle/>
          <a:p>
            <a:pPr algn="l"/>
            <a:r>
              <a:rPr sz="1800" b="0">
                <a:solidFill>
                  <a:srgbClr val="1A2E48"/>
                </a:solidFill>
              </a:rPr>
              <a:t>💻</a:t>
            </a:r>
          </a:p>
        </p:txBody>
      </p:sp>
      <p:sp>
        <p:nvSpPr>
          <p:cNvPr id="33" name="TextBox 32"/>
          <p:cNvSpPr txBox="1"/>
          <p:nvPr/>
        </p:nvSpPr>
        <p:spPr>
          <a:xfrm>
            <a:off x="6752844" y="3936492"/>
            <a:ext cx="4988052" cy="256032"/>
          </a:xfrm>
          <a:prstGeom prst="rect">
            <a:avLst/>
          </a:prstGeom>
          <a:noFill/>
        </p:spPr>
        <p:txBody>
          <a:bodyPr wrap="square">
            <a:spAutoFit/>
          </a:bodyPr>
          <a:lstStyle/>
          <a:p>
            <a:pPr algn="l"/>
            <a:r>
              <a:rPr sz="1100" b="1">
                <a:solidFill>
                  <a:srgbClr val="1A2E48"/>
                </a:solidFill>
              </a:rPr>
              <a:t>オンライン仲介</a:t>
            </a:r>
          </a:p>
        </p:txBody>
      </p:sp>
      <p:sp>
        <p:nvSpPr>
          <p:cNvPr id="34" name="TextBox 33"/>
          <p:cNvSpPr txBox="1"/>
          <p:nvPr/>
        </p:nvSpPr>
        <p:spPr>
          <a:xfrm>
            <a:off x="6752844" y="4192524"/>
            <a:ext cx="4988052" cy="256032"/>
          </a:xfrm>
          <a:prstGeom prst="rect">
            <a:avLst/>
          </a:prstGeom>
          <a:noFill/>
        </p:spPr>
        <p:txBody>
          <a:bodyPr wrap="square">
            <a:spAutoFit/>
          </a:bodyPr>
          <a:lstStyle/>
          <a:p>
            <a:pPr algn="l"/>
            <a:r>
              <a:rPr sz="900" b="0">
                <a:solidFill>
                  <a:srgbClr val="6A7A8A"/>
                </a:solidFill>
              </a:rPr>
              <a:t>デジタル仲介プラットフォームとAPI連携</a:t>
            </a:r>
          </a:p>
        </p:txBody>
      </p:sp>
      <p:sp>
        <p:nvSpPr>
          <p:cNvPr id="35" name="Rectangle 34"/>
          <p:cNvSpPr/>
          <p:nvPr/>
        </p:nvSpPr>
        <p:spPr>
          <a:xfrm>
            <a:off x="6222492" y="4658868"/>
            <a:ext cx="5646420" cy="68580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59652" y="4796028"/>
            <a:ext cx="329184" cy="347472"/>
          </a:xfrm>
          <a:prstGeom prst="rect">
            <a:avLst/>
          </a:prstGeom>
          <a:noFill/>
        </p:spPr>
        <p:txBody>
          <a:bodyPr wrap="square">
            <a:spAutoFit/>
          </a:bodyPr>
          <a:lstStyle/>
          <a:p>
            <a:pPr algn="l"/>
            <a:r>
              <a:rPr sz="1800" b="0">
                <a:solidFill>
                  <a:srgbClr val="1A2E48"/>
                </a:solidFill>
              </a:rPr>
              <a:t>🤝</a:t>
            </a:r>
          </a:p>
        </p:txBody>
      </p:sp>
      <p:sp>
        <p:nvSpPr>
          <p:cNvPr id="37" name="TextBox 36"/>
          <p:cNvSpPr txBox="1"/>
          <p:nvPr/>
        </p:nvSpPr>
        <p:spPr>
          <a:xfrm>
            <a:off x="6752844" y="4750308"/>
            <a:ext cx="4988052" cy="256032"/>
          </a:xfrm>
          <a:prstGeom prst="rect">
            <a:avLst/>
          </a:prstGeom>
          <a:noFill/>
        </p:spPr>
        <p:txBody>
          <a:bodyPr wrap="square">
            <a:spAutoFit/>
          </a:bodyPr>
          <a:lstStyle/>
          <a:p>
            <a:pPr algn="l"/>
            <a:r>
              <a:rPr sz="1100" b="1">
                <a:solidFill>
                  <a:srgbClr val="1A2E48"/>
                </a:solidFill>
              </a:rPr>
              <a:t>管理会社直接提携</a:t>
            </a:r>
          </a:p>
        </p:txBody>
      </p:sp>
      <p:sp>
        <p:nvSpPr>
          <p:cNvPr id="38" name="TextBox 37"/>
          <p:cNvSpPr txBox="1"/>
          <p:nvPr/>
        </p:nvSpPr>
        <p:spPr>
          <a:xfrm>
            <a:off x="6752844" y="5006340"/>
            <a:ext cx="4988052" cy="256032"/>
          </a:xfrm>
          <a:prstGeom prst="rect">
            <a:avLst/>
          </a:prstGeom>
          <a:noFill/>
        </p:spPr>
        <p:txBody>
          <a:bodyPr wrap="square">
            <a:spAutoFit/>
          </a:bodyPr>
          <a:lstStyle/>
          <a:p>
            <a:pPr algn="l"/>
            <a:r>
              <a:rPr sz="900" b="0">
                <a:solidFill>
                  <a:srgbClr val="6A7A8A"/>
                </a:solidFill>
              </a:rPr>
              <a:t>物件管理会社を通じた一括導入スキーム</a:t>
            </a:r>
          </a:p>
        </p:txBody>
      </p:sp>
      <p:sp>
        <p:nvSpPr>
          <p:cNvPr id="39" name="Rectangle 38"/>
          <p:cNvSpPr/>
          <p:nvPr/>
        </p:nvSpPr>
        <p:spPr>
          <a:xfrm>
            <a:off x="6222492" y="5527548"/>
            <a:ext cx="5646420" cy="502920"/>
          </a:xfrm>
          <a:prstGeom prst="roundRect">
            <a:avLst>
              <a:gd name="adj" fmla="val 20000"/>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9652" y="5582412"/>
            <a:ext cx="5372100" cy="402336"/>
          </a:xfrm>
          <a:prstGeom prst="rect">
            <a:avLst/>
          </a:prstGeom>
          <a:noFill/>
        </p:spPr>
        <p:txBody>
          <a:bodyPr wrap="square">
            <a:spAutoFit/>
          </a:bodyPr>
          <a:lstStyle/>
          <a:p>
            <a:pPr algn="l"/>
            <a:r>
              <a:rPr sz="900" b="0">
                <a:solidFill>
                  <a:srgbClr val="DDEEFF"/>
                </a:solidFill>
              </a:rPr>
              <a:t>SHIKIのネットワーク資産をそのまま活用することで、日本住戸は初期コストゼロで全国展開が可能です。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04 / Product</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商  品  概  要</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料金プラン</a:t>
            </a:r>
          </a:p>
        </p:txBody>
      </p:sp>
      <p:sp>
        <p:nvSpPr>
          <p:cNvPr id="6" name="Rectangle 5"/>
          <p:cNvSpPr/>
          <p:nvPr/>
        </p:nvSpPr>
        <p:spPr>
          <a:xfrm>
            <a:off x="320040" y="886968"/>
            <a:ext cx="5646420"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886968"/>
            <a:ext cx="5646420" cy="54864"/>
          </a:xfrm>
          <a:prstGeom prst="rect">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69848"/>
            <a:ext cx="5189220" cy="201168"/>
          </a:xfrm>
          <a:prstGeom prst="rect">
            <a:avLst/>
          </a:prstGeom>
          <a:noFill/>
        </p:spPr>
        <p:txBody>
          <a:bodyPr wrap="square">
            <a:spAutoFit/>
          </a:bodyPr>
          <a:lstStyle/>
          <a:p>
            <a:pPr algn="l"/>
            <a:r>
              <a:rPr sz="800" b="0">
                <a:solidFill>
                  <a:srgbClr val="6A7A8A"/>
                </a:solidFill>
              </a:rPr>
              <a:t>月額基本プラン</a:t>
            </a:r>
          </a:p>
        </p:txBody>
      </p:sp>
      <p:sp>
        <p:nvSpPr>
          <p:cNvPr id="9" name="TextBox 8"/>
          <p:cNvSpPr txBox="1"/>
          <p:nvPr/>
        </p:nvSpPr>
        <p:spPr>
          <a:xfrm>
            <a:off x="548640" y="1325880"/>
            <a:ext cx="5189220" cy="640080"/>
          </a:xfrm>
          <a:prstGeom prst="rect">
            <a:avLst/>
          </a:prstGeom>
          <a:noFill/>
        </p:spPr>
        <p:txBody>
          <a:bodyPr wrap="square">
            <a:spAutoFit/>
          </a:bodyPr>
          <a:lstStyle/>
          <a:p>
            <a:pPr algn="l"/>
            <a:r>
              <a:rPr sz="4400" b="1">
                <a:solidFill>
                  <a:srgbClr val="2860A8"/>
                </a:solidFill>
              </a:rPr>
              <a:t>¥500</a:t>
            </a:r>
          </a:p>
        </p:txBody>
      </p:sp>
      <p:sp>
        <p:nvSpPr>
          <p:cNvPr id="10" name="TextBox 9"/>
          <p:cNvSpPr txBox="1"/>
          <p:nvPr/>
        </p:nvSpPr>
        <p:spPr>
          <a:xfrm>
            <a:off x="548640" y="1892808"/>
            <a:ext cx="5189220" cy="219456"/>
          </a:xfrm>
          <a:prstGeom prst="rect">
            <a:avLst/>
          </a:prstGeom>
          <a:noFill/>
        </p:spPr>
        <p:txBody>
          <a:bodyPr wrap="square">
            <a:spAutoFit/>
          </a:bodyPr>
          <a:lstStyle/>
          <a:p>
            <a:pPr algn="l"/>
            <a:r>
              <a:rPr sz="1000" b="0">
                <a:solidFill>
                  <a:srgbClr val="6A7A8A"/>
                </a:solidFill>
              </a:rPr>
              <a:t>/ 月 · 入居者1名あたり</a:t>
            </a:r>
          </a:p>
        </p:txBody>
      </p:sp>
      <p:sp>
        <p:nvSpPr>
          <p:cNvPr id="11" name="Rectangle 10"/>
          <p:cNvSpPr/>
          <p:nvPr/>
        </p:nvSpPr>
        <p:spPr>
          <a:xfrm>
            <a:off x="548640" y="2185416"/>
            <a:ext cx="5189220" cy="12700"/>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350008"/>
            <a:ext cx="5189220" cy="502920"/>
          </a:xfrm>
          <a:prstGeom prst="rect">
            <a:avLst/>
          </a:prstGeom>
          <a:noFill/>
        </p:spPr>
        <p:txBody>
          <a:bodyPr wrap="square">
            <a:spAutoFit/>
          </a:bodyPr>
          <a:lstStyle/>
          <a:p>
            <a:pPr algn="l"/>
            <a:r>
              <a:rPr sz="1000" b="0">
                <a:solidFill>
                  <a:srgbClr val="1A2E48"/>
                </a:solidFill>
              </a:rPr>
              <a:t>入居者が毎月負担する基本利用料。
付帯サービスへのアクセス権が含まれます。</a:t>
            </a:r>
          </a:p>
        </p:txBody>
      </p:sp>
      <p:sp>
        <p:nvSpPr>
          <p:cNvPr id="13" name="TextBox 12"/>
          <p:cNvSpPr txBox="1"/>
          <p:nvPr/>
        </p:nvSpPr>
        <p:spPr>
          <a:xfrm>
            <a:off x="548640" y="2916936"/>
            <a:ext cx="182880" cy="219456"/>
          </a:xfrm>
          <a:prstGeom prst="rect">
            <a:avLst/>
          </a:prstGeom>
          <a:noFill/>
        </p:spPr>
        <p:txBody>
          <a:bodyPr wrap="square">
            <a:spAutoFit/>
          </a:bodyPr>
          <a:lstStyle/>
          <a:p>
            <a:pPr algn="l"/>
            <a:r>
              <a:rPr sz="1000" b="1">
                <a:solidFill>
                  <a:srgbClr val="2860A8"/>
                </a:solidFill>
              </a:rPr>
              <a:t>✓</a:t>
            </a:r>
          </a:p>
        </p:txBody>
      </p:sp>
      <p:sp>
        <p:nvSpPr>
          <p:cNvPr id="14" name="TextBox 13"/>
          <p:cNvSpPr txBox="1"/>
          <p:nvPr/>
        </p:nvSpPr>
        <p:spPr>
          <a:xfrm>
            <a:off x="749808" y="2916936"/>
            <a:ext cx="4988052" cy="219456"/>
          </a:xfrm>
          <a:prstGeom prst="rect">
            <a:avLst/>
          </a:prstGeom>
          <a:noFill/>
        </p:spPr>
        <p:txBody>
          <a:bodyPr wrap="square">
            <a:spAutoFit/>
          </a:bodyPr>
          <a:lstStyle/>
          <a:p>
            <a:pPr algn="l"/>
            <a:r>
              <a:rPr sz="1000" b="0">
                <a:solidFill>
                  <a:srgbClr val="1A2E48"/>
                </a:solidFill>
              </a:rPr>
              <a:t>電気・コンテンツ・ネットが利用可能</a:t>
            </a:r>
          </a:p>
        </p:txBody>
      </p:sp>
      <p:sp>
        <p:nvSpPr>
          <p:cNvPr id="15" name="TextBox 14"/>
          <p:cNvSpPr txBox="1"/>
          <p:nvPr/>
        </p:nvSpPr>
        <p:spPr>
          <a:xfrm>
            <a:off x="548640" y="3172968"/>
            <a:ext cx="182880" cy="219456"/>
          </a:xfrm>
          <a:prstGeom prst="rect">
            <a:avLst/>
          </a:prstGeom>
          <a:noFill/>
        </p:spPr>
        <p:txBody>
          <a:bodyPr wrap="square">
            <a:spAutoFit/>
          </a:bodyPr>
          <a:lstStyle/>
          <a:p>
            <a:pPr algn="l"/>
            <a:r>
              <a:rPr sz="1000" b="1">
                <a:solidFill>
                  <a:srgbClr val="2860A8"/>
                </a:solidFill>
              </a:rPr>
              <a:t>✓</a:t>
            </a:r>
          </a:p>
        </p:txBody>
      </p:sp>
      <p:sp>
        <p:nvSpPr>
          <p:cNvPr id="16" name="TextBox 15"/>
          <p:cNvSpPr txBox="1"/>
          <p:nvPr/>
        </p:nvSpPr>
        <p:spPr>
          <a:xfrm>
            <a:off x="749808" y="3172968"/>
            <a:ext cx="4988052" cy="219456"/>
          </a:xfrm>
          <a:prstGeom prst="rect">
            <a:avLst/>
          </a:prstGeom>
          <a:noFill/>
        </p:spPr>
        <p:txBody>
          <a:bodyPr wrap="square">
            <a:spAutoFit/>
          </a:bodyPr>
          <a:lstStyle/>
          <a:p>
            <a:pPr algn="l"/>
            <a:r>
              <a:rPr sz="1000" b="0">
                <a:solidFill>
                  <a:srgbClr val="1A2E48"/>
                </a:solidFill>
              </a:rPr>
              <a:t>入居期間中継続課金</a:t>
            </a:r>
          </a:p>
        </p:txBody>
      </p:sp>
      <p:sp>
        <p:nvSpPr>
          <p:cNvPr id="17" name="TextBox 16"/>
          <p:cNvSpPr txBox="1"/>
          <p:nvPr/>
        </p:nvSpPr>
        <p:spPr>
          <a:xfrm>
            <a:off x="548640" y="3429000"/>
            <a:ext cx="182880" cy="219456"/>
          </a:xfrm>
          <a:prstGeom prst="rect">
            <a:avLst/>
          </a:prstGeom>
          <a:noFill/>
        </p:spPr>
        <p:txBody>
          <a:bodyPr wrap="square">
            <a:spAutoFit/>
          </a:bodyPr>
          <a:lstStyle/>
          <a:p>
            <a:pPr algn="l"/>
            <a:r>
              <a:rPr sz="1000" b="1">
                <a:solidFill>
                  <a:srgbClr val="2860A8"/>
                </a:solidFill>
              </a:rPr>
              <a:t>✓</a:t>
            </a:r>
          </a:p>
        </p:txBody>
      </p:sp>
      <p:sp>
        <p:nvSpPr>
          <p:cNvPr id="18" name="TextBox 17"/>
          <p:cNvSpPr txBox="1"/>
          <p:nvPr/>
        </p:nvSpPr>
        <p:spPr>
          <a:xfrm>
            <a:off x="749808" y="3429000"/>
            <a:ext cx="4988052" cy="219456"/>
          </a:xfrm>
          <a:prstGeom prst="rect">
            <a:avLst/>
          </a:prstGeom>
          <a:noFill/>
        </p:spPr>
        <p:txBody>
          <a:bodyPr wrap="square">
            <a:spAutoFit/>
          </a:bodyPr>
          <a:lstStyle/>
          <a:p>
            <a:pPr algn="l"/>
            <a:r>
              <a:rPr sz="1000" b="0">
                <a:solidFill>
                  <a:srgbClr val="1A2E48"/>
                </a:solidFill>
              </a:rPr>
              <a:t>初期費用なし</a:t>
            </a:r>
          </a:p>
        </p:txBody>
      </p:sp>
      <p:sp>
        <p:nvSpPr>
          <p:cNvPr id="19" name="Rectangle 18"/>
          <p:cNvSpPr/>
          <p:nvPr/>
        </p:nvSpPr>
        <p:spPr>
          <a:xfrm>
            <a:off x="6222492" y="886968"/>
            <a:ext cx="5646420"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886968"/>
            <a:ext cx="5646420" cy="5486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069848"/>
            <a:ext cx="5189220" cy="201168"/>
          </a:xfrm>
          <a:prstGeom prst="rect">
            <a:avLst/>
          </a:prstGeom>
          <a:noFill/>
        </p:spPr>
        <p:txBody>
          <a:bodyPr wrap="square">
            <a:spAutoFit/>
          </a:bodyPr>
          <a:lstStyle/>
          <a:p>
            <a:pPr algn="l"/>
            <a:r>
              <a:rPr sz="800" b="0">
                <a:solidFill>
                  <a:srgbClr val="6A7A8A"/>
                </a:solidFill>
              </a:rPr>
              <a:t>仲介手数料シェア</a:t>
            </a:r>
          </a:p>
        </p:txBody>
      </p:sp>
      <p:sp>
        <p:nvSpPr>
          <p:cNvPr id="22" name="TextBox 21"/>
          <p:cNvSpPr txBox="1"/>
          <p:nvPr/>
        </p:nvSpPr>
        <p:spPr>
          <a:xfrm>
            <a:off x="6451092" y="1325880"/>
            <a:ext cx="5189220" cy="640080"/>
          </a:xfrm>
          <a:prstGeom prst="rect">
            <a:avLst/>
          </a:prstGeom>
          <a:noFill/>
        </p:spPr>
        <p:txBody>
          <a:bodyPr wrap="square">
            <a:spAutoFit/>
          </a:bodyPr>
          <a:lstStyle/>
          <a:p>
            <a:pPr algn="l"/>
            <a:r>
              <a:rPr sz="4400" b="1">
                <a:solidFill>
                  <a:srgbClr val="E8A020"/>
                </a:solidFill>
              </a:rPr>
              <a:t>  ●%</a:t>
            </a:r>
          </a:p>
        </p:txBody>
      </p:sp>
      <p:sp>
        <p:nvSpPr>
          <p:cNvPr id="23" name="TextBox 22"/>
          <p:cNvSpPr txBox="1"/>
          <p:nvPr/>
        </p:nvSpPr>
        <p:spPr>
          <a:xfrm>
            <a:off x="6451092" y="1892808"/>
            <a:ext cx="5189220" cy="219456"/>
          </a:xfrm>
          <a:prstGeom prst="rect">
            <a:avLst/>
          </a:prstGeom>
          <a:noFill/>
        </p:spPr>
        <p:txBody>
          <a:bodyPr wrap="square">
            <a:spAutoFit/>
          </a:bodyPr>
          <a:lstStyle/>
          <a:p>
            <a:pPr algn="l"/>
            <a:r>
              <a:rPr sz="1000" b="0">
                <a:solidFill>
                  <a:srgbClr val="6A7A8A"/>
                </a:solidFill>
              </a:rPr>
              <a:t>収益に対する仲介会社への還元率</a:t>
            </a:r>
          </a:p>
        </p:txBody>
      </p:sp>
      <p:sp>
        <p:nvSpPr>
          <p:cNvPr id="24" name="Rectangle 23"/>
          <p:cNvSpPr/>
          <p:nvPr/>
        </p:nvSpPr>
        <p:spPr>
          <a:xfrm>
            <a:off x="6451092" y="2185416"/>
            <a:ext cx="5189220" cy="12700"/>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2350008"/>
            <a:ext cx="5189220" cy="502920"/>
          </a:xfrm>
          <a:prstGeom prst="rect">
            <a:avLst/>
          </a:prstGeom>
          <a:noFill/>
        </p:spPr>
        <p:txBody>
          <a:bodyPr wrap="square">
            <a:spAutoFit/>
          </a:bodyPr>
          <a:lstStyle/>
          <a:p>
            <a:pPr algn="l"/>
            <a:r>
              <a:rPr sz="1000" b="0">
                <a:solidFill>
                  <a:srgbClr val="1A2E48"/>
                </a:solidFill>
              </a:rPr>
              <a:t>月額収益の一定割合を仲介会社へ自動還元。
入居者在籍中はストック収益が積み上がります。</a:t>
            </a:r>
          </a:p>
        </p:txBody>
      </p:sp>
      <p:sp>
        <p:nvSpPr>
          <p:cNvPr id="26" name="TextBox 25"/>
          <p:cNvSpPr txBox="1"/>
          <p:nvPr/>
        </p:nvSpPr>
        <p:spPr>
          <a:xfrm>
            <a:off x="6451092" y="2916936"/>
            <a:ext cx="182880" cy="219456"/>
          </a:xfrm>
          <a:prstGeom prst="rect">
            <a:avLst/>
          </a:prstGeom>
          <a:noFill/>
        </p:spPr>
        <p:txBody>
          <a:bodyPr wrap="square">
            <a:spAutoFit/>
          </a:bodyPr>
          <a:lstStyle/>
          <a:p>
            <a:pPr algn="l"/>
            <a:r>
              <a:rPr sz="1000" b="1">
                <a:solidFill>
                  <a:srgbClr val="E8A020"/>
                </a:solidFill>
              </a:rPr>
              <a:t>✓</a:t>
            </a:r>
          </a:p>
        </p:txBody>
      </p:sp>
      <p:sp>
        <p:nvSpPr>
          <p:cNvPr id="27" name="TextBox 26"/>
          <p:cNvSpPr txBox="1"/>
          <p:nvPr/>
        </p:nvSpPr>
        <p:spPr>
          <a:xfrm>
            <a:off x="6652260" y="2916936"/>
            <a:ext cx="4988052" cy="219456"/>
          </a:xfrm>
          <a:prstGeom prst="rect">
            <a:avLst/>
          </a:prstGeom>
          <a:noFill/>
        </p:spPr>
        <p:txBody>
          <a:bodyPr wrap="square">
            <a:spAutoFit/>
          </a:bodyPr>
          <a:lstStyle/>
          <a:p>
            <a:pPr algn="l"/>
            <a:r>
              <a:rPr sz="1000" b="0">
                <a:solidFill>
                  <a:srgbClr val="1A2E48"/>
                </a:solidFill>
              </a:rPr>
              <a:t>自動精算・振込</a:t>
            </a:r>
          </a:p>
        </p:txBody>
      </p:sp>
      <p:sp>
        <p:nvSpPr>
          <p:cNvPr id="28" name="TextBox 27"/>
          <p:cNvSpPr txBox="1"/>
          <p:nvPr/>
        </p:nvSpPr>
        <p:spPr>
          <a:xfrm>
            <a:off x="6451092" y="3172968"/>
            <a:ext cx="182880" cy="219456"/>
          </a:xfrm>
          <a:prstGeom prst="rect">
            <a:avLst/>
          </a:prstGeom>
          <a:noFill/>
        </p:spPr>
        <p:txBody>
          <a:bodyPr wrap="square">
            <a:spAutoFit/>
          </a:bodyPr>
          <a:lstStyle/>
          <a:p>
            <a:pPr algn="l"/>
            <a:r>
              <a:rPr sz="1000" b="1">
                <a:solidFill>
                  <a:srgbClr val="E8A020"/>
                </a:solidFill>
              </a:rPr>
              <a:t>✓</a:t>
            </a:r>
          </a:p>
        </p:txBody>
      </p:sp>
      <p:sp>
        <p:nvSpPr>
          <p:cNvPr id="29" name="TextBox 28"/>
          <p:cNvSpPr txBox="1"/>
          <p:nvPr/>
        </p:nvSpPr>
        <p:spPr>
          <a:xfrm>
            <a:off x="6652260" y="3172968"/>
            <a:ext cx="4988052" cy="219456"/>
          </a:xfrm>
          <a:prstGeom prst="rect">
            <a:avLst/>
          </a:prstGeom>
          <a:noFill/>
        </p:spPr>
        <p:txBody>
          <a:bodyPr wrap="square">
            <a:spAutoFit/>
          </a:bodyPr>
          <a:lstStyle/>
          <a:p>
            <a:pPr algn="l"/>
            <a:r>
              <a:rPr sz="1000" b="0">
                <a:solidFill>
                  <a:srgbClr val="1A2E48"/>
                </a:solidFill>
              </a:rPr>
              <a:t>リアルタイムダッシュボード管理</a:t>
            </a:r>
          </a:p>
        </p:txBody>
      </p:sp>
      <p:sp>
        <p:nvSpPr>
          <p:cNvPr id="30" name="TextBox 29"/>
          <p:cNvSpPr txBox="1"/>
          <p:nvPr/>
        </p:nvSpPr>
        <p:spPr>
          <a:xfrm>
            <a:off x="6451092" y="3429000"/>
            <a:ext cx="182880" cy="219456"/>
          </a:xfrm>
          <a:prstGeom prst="rect">
            <a:avLst/>
          </a:prstGeom>
          <a:noFill/>
        </p:spPr>
        <p:txBody>
          <a:bodyPr wrap="square">
            <a:spAutoFit/>
          </a:bodyPr>
          <a:lstStyle/>
          <a:p>
            <a:pPr algn="l"/>
            <a:r>
              <a:rPr sz="1000" b="1">
                <a:solidFill>
                  <a:srgbClr val="E8A020"/>
                </a:solidFill>
              </a:rPr>
              <a:t>✓</a:t>
            </a:r>
          </a:p>
        </p:txBody>
      </p:sp>
      <p:sp>
        <p:nvSpPr>
          <p:cNvPr id="31" name="TextBox 30"/>
          <p:cNvSpPr txBox="1"/>
          <p:nvPr/>
        </p:nvSpPr>
        <p:spPr>
          <a:xfrm>
            <a:off x="6652260" y="3429000"/>
            <a:ext cx="4988052" cy="219456"/>
          </a:xfrm>
          <a:prstGeom prst="rect">
            <a:avLst/>
          </a:prstGeom>
          <a:noFill/>
        </p:spPr>
        <p:txBody>
          <a:bodyPr wrap="square">
            <a:spAutoFit/>
          </a:bodyPr>
          <a:lstStyle/>
          <a:p>
            <a:pPr algn="l"/>
            <a:r>
              <a:rPr sz="1000" b="0">
                <a:solidFill>
                  <a:srgbClr val="1A2E48"/>
                </a:solidFill>
              </a:rPr>
              <a:t>戸数に応じた段階レート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05 / Add-on Services</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付 帯 サ ー ビ ス</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3つのバリュー</a:t>
            </a:r>
          </a:p>
        </p:txBody>
      </p:sp>
      <p:sp>
        <p:nvSpPr>
          <p:cNvPr id="6" name="Rectangle 5"/>
          <p:cNvSpPr/>
          <p:nvPr/>
        </p:nvSpPr>
        <p:spPr>
          <a:xfrm>
            <a:off x="320040" y="886968"/>
            <a:ext cx="3715512"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21208" y="1069848"/>
            <a:ext cx="594360" cy="594360"/>
          </a:xfrm>
          <a:prstGeom prst="roundRect">
            <a:avLst>
              <a:gd name="adj" fmla="val 30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161288"/>
            <a:ext cx="594360" cy="402336"/>
          </a:xfrm>
          <a:prstGeom prst="rect">
            <a:avLst/>
          </a:prstGeom>
          <a:noFill/>
        </p:spPr>
        <p:txBody>
          <a:bodyPr wrap="square">
            <a:spAutoFit/>
          </a:bodyPr>
          <a:lstStyle/>
          <a:p>
            <a:pPr algn="ctr"/>
            <a:r>
              <a:rPr sz="2400" b="0">
                <a:solidFill>
                  <a:srgbClr val="1A2E48"/>
                </a:solidFill>
              </a:rPr>
              <a:t>⚡</a:t>
            </a:r>
          </a:p>
        </p:txBody>
      </p:sp>
      <p:sp>
        <p:nvSpPr>
          <p:cNvPr id="9" name="TextBox 8"/>
          <p:cNvSpPr txBox="1"/>
          <p:nvPr/>
        </p:nvSpPr>
        <p:spPr>
          <a:xfrm>
            <a:off x="521208" y="1819656"/>
            <a:ext cx="3313176" cy="310896"/>
          </a:xfrm>
          <a:prstGeom prst="rect">
            <a:avLst/>
          </a:prstGeom>
          <a:noFill/>
        </p:spPr>
        <p:txBody>
          <a:bodyPr wrap="square">
            <a:spAutoFit/>
          </a:bodyPr>
          <a:lstStyle/>
          <a:p>
            <a:pPr algn="l"/>
            <a:r>
              <a:rPr sz="1400" b="1">
                <a:solidFill>
                  <a:srgbClr val="1A2E48"/>
                </a:solidFill>
              </a:rPr>
              <a:t>電　　　気</a:t>
            </a:r>
          </a:p>
        </p:txBody>
      </p:sp>
      <p:sp>
        <p:nvSpPr>
          <p:cNvPr id="10" name="Rectangle 9"/>
          <p:cNvSpPr/>
          <p:nvPr/>
        </p:nvSpPr>
        <p:spPr>
          <a:xfrm>
            <a:off x="521208" y="2167128"/>
            <a:ext cx="1005840" cy="219456"/>
          </a:xfrm>
          <a:prstGeom prst="roundRect">
            <a:avLst>
              <a:gd name="adj" fmla="val 20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rPr>
              <a:t>ENERGY</a:t>
            </a:r>
          </a:p>
        </p:txBody>
      </p:sp>
      <p:sp>
        <p:nvSpPr>
          <p:cNvPr id="11" name="TextBox 10"/>
          <p:cNvSpPr txBox="1"/>
          <p:nvPr/>
        </p:nvSpPr>
        <p:spPr>
          <a:xfrm>
            <a:off x="521208" y="2514600"/>
            <a:ext cx="3313176" cy="1280160"/>
          </a:xfrm>
          <a:prstGeom prst="rect">
            <a:avLst/>
          </a:prstGeom>
          <a:noFill/>
        </p:spPr>
        <p:txBody>
          <a:bodyPr wrap="square">
            <a:spAutoFit/>
          </a:bodyPr>
          <a:lstStyle/>
          <a:p>
            <a:pPr algn="l"/>
            <a:r>
              <a:rPr sz="900" b="0">
                <a:solidFill>
                  <a:srgbClr val="6A7A8A"/>
                </a:solidFill>
              </a:rPr>
              <a:t>入居者向けの電力供給サービス。割安な電気料金プランと使用量の可視化・節電サポートを提供。物件全体での一括契約によりオーナーへのコスト削減効果も実現。</a:t>
            </a:r>
          </a:p>
        </p:txBody>
      </p:sp>
      <p:sp>
        <p:nvSpPr>
          <p:cNvPr id="12" name="Rectangle 11"/>
          <p:cNvSpPr/>
          <p:nvPr/>
        </p:nvSpPr>
        <p:spPr>
          <a:xfrm>
            <a:off x="521208" y="3886200"/>
            <a:ext cx="3313176" cy="594360"/>
          </a:xfrm>
          <a:prstGeom prst="roundRect">
            <a:avLst>
              <a:gd name="adj" fmla="val 15000"/>
            </a:avLst>
          </a:prstGeom>
          <a:solidFill>
            <a:srgbClr val="FFFFFF"/>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3941064"/>
            <a:ext cx="3093720" cy="182880"/>
          </a:xfrm>
          <a:prstGeom prst="rect">
            <a:avLst/>
          </a:prstGeom>
          <a:noFill/>
        </p:spPr>
        <p:txBody>
          <a:bodyPr wrap="square">
            <a:spAutoFit/>
          </a:bodyPr>
          <a:lstStyle/>
          <a:p>
            <a:pPr algn="l"/>
            <a:r>
              <a:rPr sz="700" b="0">
                <a:solidFill>
                  <a:srgbClr val="6A7A8A"/>
                </a:solidFill>
              </a:rPr>
              <a:t>入居者メリット</a:t>
            </a:r>
          </a:p>
        </p:txBody>
      </p:sp>
      <p:sp>
        <p:nvSpPr>
          <p:cNvPr id="14" name="TextBox 13"/>
          <p:cNvSpPr txBox="1"/>
          <p:nvPr/>
        </p:nvSpPr>
        <p:spPr>
          <a:xfrm>
            <a:off x="630936" y="4142232"/>
            <a:ext cx="3093720" cy="256032"/>
          </a:xfrm>
          <a:prstGeom prst="rect">
            <a:avLst/>
          </a:prstGeom>
          <a:noFill/>
        </p:spPr>
        <p:txBody>
          <a:bodyPr wrap="square">
            <a:spAutoFit/>
          </a:bodyPr>
          <a:lstStyle/>
          <a:p>
            <a:pPr algn="l"/>
            <a:r>
              <a:rPr sz="1100" b="1">
                <a:solidFill>
                  <a:srgbClr val="2860A8"/>
                </a:solidFill>
              </a:rPr>
              <a:t>●●●●●●●●</a:t>
            </a:r>
          </a:p>
        </p:txBody>
      </p:sp>
      <p:sp>
        <p:nvSpPr>
          <p:cNvPr id="15" name="Rectangle 14"/>
          <p:cNvSpPr/>
          <p:nvPr/>
        </p:nvSpPr>
        <p:spPr>
          <a:xfrm>
            <a:off x="4236720" y="886968"/>
            <a:ext cx="3715512"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37888" y="1069848"/>
            <a:ext cx="594360" cy="594360"/>
          </a:xfrm>
          <a:prstGeom prst="roundRect">
            <a:avLst>
              <a:gd name="adj" fmla="val 30000"/>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7888" y="1161288"/>
            <a:ext cx="594360" cy="402336"/>
          </a:xfrm>
          <a:prstGeom prst="rect">
            <a:avLst/>
          </a:prstGeom>
          <a:noFill/>
        </p:spPr>
        <p:txBody>
          <a:bodyPr wrap="square">
            <a:spAutoFit/>
          </a:bodyPr>
          <a:lstStyle/>
          <a:p>
            <a:pPr algn="ctr"/>
            <a:r>
              <a:rPr sz="2400" b="0">
                <a:solidFill>
                  <a:srgbClr val="1A2E48"/>
                </a:solidFill>
              </a:rPr>
              <a:t>🎬</a:t>
            </a:r>
          </a:p>
        </p:txBody>
      </p:sp>
      <p:sp>
        <p:nvSpPr>
          <p:cNvPr id="18" name="TextBox 17"/>
          <p:cNvSpPr txBox="1"/>
          <p:nvPr/>
        </p:nvSpPr>
        <p:spPr>
          <a:xfrm>
            <a:off x="4437888" y="1819656"/>
            <a:ext cx="3313176" cy="310896"/>
          </a:xfrm>
          <a:prstGeom prst="rect">
            <a:avLst/>
          </a:prstGeom>
          <a:noFill/>
        </p:spPr>
        <p:txBody>
          <a:bodyPr wrap="square">
            <a:spAutoFit/>
          </a:bodyPr>
          <a:lstStyle/>
          <a:p>
            <a:pPr algn="l"/>
            <a:r>
              <a:rPr sz="1400" b="1">
                <a:solidFill>
                  <a:srgbClr val="1A2E48"/>
                </a:solidFill>
              </a:rPr>
              <a:t>コンテンツ</a:t>
            </a:r>
          </a:p>
        </p:txBody>
      </p:sp>
      <p:sp>
        <p:nvSpPr>
          <p:cNvPr id="19" name="Rectangle 18"/>
          <p:cNvSpPr/>
          <p:nvPr/>
        </p:nvSpPr>
        <p:spPr>
          <a:xfrm>
            <a:off x="4437888" y="2167128"/>
            <a:ext cx="1005840" cy="219456"/>
          </a:xfrm>
          <a:prstGeom prst="roundRect">
            <a:avLst>
              <a:gd name="adj" fmla="val 20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rPr>
              <a:t>CONTENTS</a:t>
            </a:r>
          </a:p>
        </p:txBody>
      </p:sp>
      <p:sp>
        <p:nvSpPr>
          <p:cNvPr id="20" name="TextBox 19"/>
          <p:cNvSpPr txBox="1"/>
          <p:nvPr/>
        </p:nvSpPr>
        <p:spPr>
          <a:xfrm>
            <a:off x="4437888" y="2514600"/>
            <a:ext cx="3313176" cy="1280160"/>
          </a:xfrm>
          <a:prstGeom prst="rect">
            <a:avLst/>
          </a:prstGeom>
          <a:noFill/>
        </p:spPr>
        <p:txBody>
          <a:bodyPr wrap="square">
            <a:spAutoFit/>
          </a:bodyPr>
          <a:lstStyle/>
          <a:p>
            <a:pPr algn="l"/>
            <a:r>
              <a:rPr sz="900" b="0">
                <a:solidFill>
                  <a:srgbClr val="6A7A8A"/>
                </a:solidFill>
              </a:rPr>
              <a:t>動画・音楽・電子書籍などのデジタルコンテンツを月額サービスに含めて提供。入居の魅力向上と差別化を実現し空室リスクの低減に貢献します。</a:t>
            </a:r>
          </a:p>
        </p:txBody>
      </p:sp>
      <p:sp>
        <p:nvSpPr>
          <p:cNvPr id="21" name="Rectangle 20"/>
          <p:cNvSpPr/>
          <p:nvPr/>
        </p:nvSpPr>
        <p:spPr>
          <a:xfrm>
            <a:off x="4437888" y="3886200"/>
            <a:ext cx="3313176" cy="594360"/>
          </a:xfrm>
          <a:prstGeom prst="roundRect">
            <a:avLst>
              <a:gd name="adj" fmla="val 15000"/>
            </a:avLst>
          </a:prstGeom>
          <a:solidFill>
            <a:srgbClr val="FFFFFF"/>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7616" y="3941064"/>
            <a:ext cx="3093720" cy="182880"/>
          </a:xfrm>
          <a:prstGeom prst="rect">
            <a:avLst/>
          </a:prstGeom>
          <a:noFill/>
        </p:spPr>
        <p:txBody>
          <a:bodyPr wrap="square">
            <a:spAutoFit/>
          </a:bodyPr>
          <a:lstStyle/>
          <a:p>
            <a:pPr algn="l"/>
            <a:r>
              <a:rPr sz="700" b="0">
                <a:solidFill>
                  <a:srgbClr val="6A7A8A"/>
                </a:solidFill>
              </a:rPr>
              <a:t>提供コンテンツ</a:t>
            </a:r>
          </a:p>
        </p:txBody>
      </p:sp>
      <p:sp>
        <p:nvSpPr>
          <p:cNvPr id="23" name="TextBox 22"/>
          <p:cNvSpPr txBox="1"/>
          <p:nvPr/>
        </p:nvSpPr>
        <p:spPr>
          <a:xfrm>
            <a:off x="4547616" y="4142232"/>
            <a:ext cx="3093720" cy="256032"/>
          </a:xfrm>
          <a:prstGeom prst="rect">
            <a:avLst/>
          </a:prstGeom>
          <a:noFill/>
        </p:spPr>
        <p:txBody>
          <a:bodyPr wrap="square">
            <a:spAutoFit/>
          </a:bodyPr>
          <a:lstStyle/>
          <a:p>
            <a:pPr algn="l"/>
            <a:r>
              <a:rPr sz="1100" b="1">
                <a:solidFill>
                  <a:srgbClr val="2860A8"/>
                </a:solidFill>
              </a:rPr>
              <a:t>●●●●●●●●</a:t>
            </a:r>
          </a:p>
        </p:txBody>
      </p:sp>
      <p:sp>
        <p:nvSpPr>
          <p:cNvPr id="24" name="Rectangle 23"/>
          <p:cNvSpPr/>
          <p:nvPr/>
        </p:nvSpPr>
        <p:spPr>
          <a:xfrm>
            <a:off x="8153400" y="886968"/>
            <a:ext cx="3715512"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54568" y="1069848"/>
            <a:ext cx="594360" cy="594360"/>
          </a:xfrm>
          <a:prstGeom prst="roundRect">
            <a:avLst>
              <a:gd name="adj" fmla="val 30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4568" y="1161288"/>
            <a:ext cx="594360" cy="402336"/>
          </a:xfrm>
          <a:prstGeom prst="rect">
            <a:avLst/>
          </a:prstGeom>
          <a:noFill/>
        </p:spPr>
        <p:txBody>
          <a:bodyPr wrap="square">
            <a:spAutoFit/>
          </a:bodyPr>
          <a:lstStyle/>
          <a:p>
            <a:pPr algn="ctr"/>
            <a:r>
              <a:rPr sz="2400" b="0">
                <a:solidFill>
                  <a:srgbClr val="1A2E48"/>
                </a:solidFill>
              </a:rPr>
              <a:t>📡</a:t>
            </a:r>
          </a:p>
        </p:txBody>
      </p:sp>
      <p:sp>
        <p:nvSpPr>
          <p:cNvPr id="27" name="TextBox 26"/>
          <p:cNvSpPr txBox="1"/>
          <p:nvPr/>
        </p:nvSpPr>
        <p:spPr>
          <a:xfrm>
            <a:off x="8354568" y="1819656"/>
            <a:ext cx="3313176" cy="310896"/>
          </a:xfrm>
          <a:prstGeom prst="rect">
            <a:avLst/>
          </a:prstGeom>
          <a:noFill/>
        </p:spPr>
        <p:txBody>
          <a:bodyPr wrap="square">
            <a:spAutoFit/>
          </a:bodyPr>
          <a:lstStyle/>
          <a:p>
            <a:pPr algn="l"/>
            <a:r>
              <a:rPr sz="1400" b="1">
                <a:solidFill>
                  <a:srgbClr val="1A2E48"/>
                </a:solidFill>
              </a:rPr>
              <a:t>インターネット</a:t>
            </a:r>
          </a:p>
        </p:txBody>
      </p:sp>
      <p:sp>
        <p:nvSpPr>
          <p:cNvPr id="28" name="Rectangle 27"/>
          <p:cNvSpPr/>
          <p:nvPr/>
        </p:nvSpPr>
        <p:spPr>
          <a:xfrm>
            <a:off x="8354568" y="2167128"/>
            <a:ext cx="1005840" cy="219456"/>
          </a:xfrm>
          <a:prstGeom prst="roundRect">
            <a:avLst>
              <a:gd name="adj" fmla="val 20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00" b="1">
                <a:solidFill>
                  <a:srgbClr val="FFFFFF"/>
                </a:solidFill>
              </a:rPr>
              <a:t>NETWORK</a:t>
            </a:r>
          </a:p>
        </p:txBody>
      </p:sp>
      <p:sp>
        <p:nvSpPr>
          <p:cNvPr id="29" name="TextBox 28"/>
          <p:cNvSpPr txBox="1"/>
          <p:nvPr/>
        </p:nvSpPr>
        <p:spPr>
          <a:xfrm>
            <a:off x="8354568" y="2514600"/>
            <a:ext cx="3313176" cy="1280160"/>
          </a:xfrm>
          <a:prstGeom prst="rect">
            <a:avLst/>
          </a:prstGeom>
          <a:noFill/>
        </p:spPr>
        <p:txBody>
          <a:bodyPr wrap="square">
            <a:spAutoFit/>
          </a:bodyPr>
          <a:lstStyle/>
          <a:p>
            <a:pPr algn="l"/>
            <a:r>
              <a:rPr sz="900" b="0">
                <a:solidFill>
                  <a:srgbClr val="6A7A8A"/>
                </a:solidFill>
              </a:rPr>
              <a:t>物件全体への高速インターネット回線を一括導入。入居者は追加契約不要で即日利用可能。回線品質の管理・保守もプラットフォームが対応します。</a:t>
            </a:r>
          </a:p>
        </p:txBody>
      </p:sp>
      <p:sp>
        <p:nvSpPr>
          <p:cNvPr id="30" name="Rectangle 29"/>
          <p:cNvSpPr/>
          <p:nvPr/>
        </p:nvSpPr>
        <p:spPr>
          <a:xfrm>
            <a:off x="8354568" y="3886200"/>
            <a:ext cx="3313176" cy="594360"/>
          </a:xfrm>
          <a:prstGeom prst="roundRect">
            <a:avLst>
              <a:gd name="adj" fmla="val 15000"/>
            </a:avLst>
          </a:prstGeom>
          <a:solidFill>
            <a:srgbClr val="FFFFFF"/>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64296" y="3941064"/>
            <a:ext cx="3093720" cy="182880"/>
          </a:xfrm>
          <a:prstGeom prst="rect">
            <a:avLst/>
          </a:prstGeom>
          <a:noFill/>
        </p:spPr>
        <p:txBody>
          <a:bodyPr wrap="square">
            <a:spAutoFit/>
          </a:bodyPr>
          <a:lstStyle/>
          <a:p>
            <a:pPr algn="l"/>
            <a:r>
              <a:rPr sz="700" b="0">
                <a:solidFill>
                  <a:srgbClr val="6A7A8A"/>
                </a:solidFill>
              </a:rPr>
              <a:t>回線スペック</a:t>
            </a:r>
          </a:p>
        </p:txBody>
      </p:sp>
      <p:sp>
        <p:nvSpPr>
          <p:cNvPr id="32" name="TextBox 31"/>
          <p:cNvSpPr txBox="1"/>
          <p:nvPr/>
        </p:nvSpPr>
        <p:spPr>
          <a:xfrm>
            <a:off x="8464296" y="4142232"/>
            <a:ext cx="3093720" cy="256032"/>
          </a:xfrm>
          <a:prstGeom prst="rect">
            <a:avLst/>
          </a:prstGeom>
          <a:noFill/>
        </p:spPr>
        <p:txBody>
          <a:bodyPr wrap="square">
            <a:spAutoFit/>
          </a:bodyPr>
          <a:lstStyle/>
          <a:p>
            <a:pPr algn="l"/>
            <a:r>
              <a:rPr sz="1100" b="1">
                <a:solidFill>
                  <a:srgbClr val="2860A8"/>
                </a:solidFil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06 / Proposal</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提　　　　案</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スキーム図</a:t>
            </a:r>
          </a:p>
        </p:txBody>
      </p:sp>
      <p:sp>
        <p:nvSpPr>
          <p:cNvPr id="6" name="Rectangle 5"/>
          <p:cNvSpPr/>
          <p:nvPr/>
        </p:nvSpPr>
        <p:spPr>
          <a:xfrm>
            <a:off x="320040" y="6181344"/>
            <a:ext cx="11548872" cy="512064"/>
          </a:xfrm>
          <a:prstGeom prst="roundRect">
            <a:avLst>
              <a:gd name="adj" fmla="val 15000"/>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254496"/>
            <a:ext cx="11091672" cy="384048"/>
          </a:xfrm>
          <a:prstGeom prst="rect">
            <a:avLst/>
          </a:prstGeom>
          <a:noFill/>
        </p:spPr>
        <p:txBody>
          <a:bodyPr wrap="square">
            <a:spAutoFit/>
          </a:bodyPr>
          <a:lstStyle/>
          <a:p>
            <a:pPr algn="l"/>
            <a:r>
              <a:rPr sz="900" b="0">
                <a:solidFill>
                  <a:srgbClr val="DDEEFF"/>
                </a:solidFill>
              </a:rPr>
              <a:t>提案要旨：SHIKIが構築したプラットフォームと仲介ネットワークを活用し、日本住戸の物件・顧客基盤を組み合わせることで、入居者への付加価値提供・仲介会社への継続収益・オーナーへのコスト削減を同時に実現します。</a:t>
            </a:r>
          </a:p>
        </p:txBody>
      </p:sp>
      <p:sp>
        <p:nvSpPr>
          <p:cNvPr id="8" name="Rectangle 7"/>
          <p:cNvSpPr/>
          <p:nvPr/>
        </p:nvSpPr>
        <p:spPr>
          <a:xfrm>
            <a:off x="320040" y="886968"/>
            <a:ext cx="11548872" cy="5166360"/>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96796" y="2738628"/>
            <a:ext cx="1737360" cy="1463040"/>
          </a:xfrm>
          <a:prstGeom prst="roundRect">
            <a:avLst>
              <a:gd name="adj" fmla="val 3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96796" y="2830068"/>
            <a:ext cx="1737360" cy="347472"/>
          </a:xfrm>
          <a:prstGeom prst="rect">
            <a:avLst/>
          </a:prstGeom>
          <a:noFill/>
        </p:spPr>
        <p:txBody>
          <a:bodyPr wrap="square">
            <a:spAutoFit/>
          </a:bodyPr>
          <a:lstStyle/>
          <a:p>
            <a:pPr algn="ctr"/>
            <a:r>
              <a:rPr sz="2200" b="0">
                <a:solidFill>
                  <a:srgbClr val="1A2E48"/>
                </a:solidFill>
              </a:rPr>
              <a:t>🏢</a:t>
            </a:r>
          </a:p>
        </p:txBody>
      </p:sp>
      <p:sp>
        <p:nvSpPr>
          <p:cNvPr id="11" name="TextBox 10"/>
          <p:cNvSpPr txBox="1"/>
          <p:nvPr/>
        </p:nvSpPr>
        <p:spPr>
          <a:xfrm>
            <a:off x="1796796" y="3159252"/>
            <a:ext cx="1737360" cy="402336"/>
          </a:xfrm>
          <a:prstGeom prst="rect">
            <a:avLst/>
          </a:prstGeom>
          <a:noFill/>
        </p:spPr>
        <p:txBody>
          <a:bodyPr wrap="square">
            <a:spAutoFit/>
          </a:bodyPr>
          <a:lstStyle/>
          <a:p>
            <a:pPr algn="ctr"/>
            <a:r>
              <a:rPr sz="1000" b="1">
                <a:solidFill>
                  <a:srgbClr val="1A2E48"/>
                </a:solidFill>
              </a:rPr>
              <a:t>物件オーナー</a:t>
            </a:r>
          </a:p>
        </p:txBody>
      </p:sp>
      <p:sp>
        <p:nvSpPr>
          <p:cNvPr id="12" name="TextBox 11"/>
          <p:cNvSpPr txBox="1"/>
          <p:nvPr/>
        </p:nvSpPr>
        <p:spPr>
          <a:xfrm>
            <a:off x="1796796" y="3561588"/>
            <a:ext cx="1737360" cy="512064"/>
          </a:xfrm>
          <a:prstGeom prst="rect">
            <a:avLst/>
          </a:prstGeom>
          <a:noFill/>
        </p:spPr>
        <p:txBody>
          <a:bodyPr wrap="square">
            <a:spAutoFit/>
          </a:bodyPr>
          <a:lstStyle/>
          <a:p>
            <a:pPr algn="ctr"/>
            <a:r>
              <a:rPr sz="900" b="0">
                <a:solidFill>
                  <a:srgbClr val="6A7A8A"/>
                </a:solidFill>
              </a:rPr>
              <a:t>物件提供
管理委託</a:t>
            </a:r>
          </a:p>
        </p:txBody>
      </p:sp>
      <p:sp>
        <p:nvSpPr>
          <p:cNvPr id="13" name="Rectangle 12"/>
          <p:cNvSpPr/>
          <p:nvPr/>
        </p:nvSpPr>
        <p:spPr>
          <a:xfrm>
            <a:off x="4082796" y="2738628"/>
            <a:ext cx="1737360" cy="1463040"/>
          </a:xfrm>
          <a:prstGeom prst="roundRect">
            <a:avLst>
              <a:gd name="adj" fmla="val 30000"/>
            </a:avLst>
          </a:prstGeom>
          <a:solidFill>
            <a:srgbClr val="1A2E48"/>
          </a:solidFill>
          <a:ln w="12700">
            <a:solidFill>
              <a:srgbClr val="2860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82796" y="2830068"/>
            <a:ext cx="1737360" cy="347472"/>
          </a:xfrm>
          <a:prstGeom prst="rect">
            <a:avLst/>
          </a:prstGeom>
          <a:noFill/>
        </p:spPr>
        <p:txBody>
          <a:bodyPr wrap="square">
            <a:spAutoFit/>
          </a:bodyPr>
          <a:lstStyle/>
          <a:p>
            <a:pPr algn="ctr"/>
            <a:r>
              <a:rPr sz="2200" b="0">
                <a:solidFill>
                  <a:srgbClr val="1A2E48"/>
                </a:solidFill>
              </a:rPr>
              <a:t>⚡</a:t>
            </a:r>
          </a:p>
        </p:txBody>
      </p:sp>
      <p:sp>
        <p:nvSpPr>
          <p:cNvPr id="15" name="TextBox 14"/>
          <p:cNvSpPr txBox="1"/>
          <p:nvPr/>
        </p:nvSpPr>
        <p:spPr>
          <a:xfrm>
            <a:off x="4082796" y="3159252"/>
            <a:ext cx="1737360" cy="402336"/>
          </a:xfrm>
          <a:prstGeom prst="rect">
            <a:avLst/>
          </a:prstGeom>
          <a:noFill/>
        </p:spPr>
        <p:txBody>
          <a:bodyPr wrap="square">
            <a:spAutoFit/>
          </a:bodyPr>
          <a:lstStyle/>
          <a:p>
            <a:pPr algn="ctr"/>
            <a:r>
              <a:rPr sz="1000" b="1">
                <a:solidFill>
                  <a:srgbClr val="FFFFFF"/>
                </a:solidFill>
              </a:rPr>
              <a:t>SHIKI×日本住戸
Platform</a:t>
            </a:r>
          </a:p>
        </p:txBody>
      </p:sp>
      <p:sp>
        <p:nvSpPr>
          <p:cNvPr id="16" name="TextBox 15"/>
          <p:cNvSpPr txBox="1"/>
          <p:nvPr/>
        </p:nvSpPr>
        <p:spPr>
          <a:xfrm>
            <a:off x="4082796" y="3561588"/>
            <a:ext cx="1737360" cy="512064"/>
          </a:xfrm>
          <a:prstGeom prst="rect">
            <a:avLst/>
          </a:prstGeom>
          <a:noFill/>
        </p:spPr>
        <p:txBody>
          <a:bodyPr wrap="square">
            <a:spAutoFit/>
          </a:bodyPr>
          <a:lstStyle/>
          <a:p>
            <a:pPr algn="ctr"/>
            <a:r>
              <a:rPr sz="900" b="0">
                <a:solidFill>
                  <a:srgbClr val="AACCEE"/>
                </a:solidFill>
              </a:rPr>
              <a:t>月次課金管理
サービス統合</a:t>
            </a:r>
          </a:p>
        </p:txBody>
      </p:sp>
      <p:sp>
        <p:nvSpPr>
          <p:cNvPr id="17" name="Rectangle 16"/>
          <p:cNvSpPr/>
          <p:nvPr/>
        </p:nvSpPr>
        <p:spPr>
          <a:xfrm>
            <a:off x="6368796" y="2738628"/>
            <a:ext cx="1737360" cy="1463040"/>
          </a:xfrm>
          <a:prstGeom prst="roundRect">
            <a:avLst>
              <a:gd name="adj" fmla="val 3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8796" y="2830068"/>
            <a:ext cx="1737360" cy="347472"/>
          </a:xfrm>
          <a:prstGeom prst="rect">
            <a:avLst/>
          </a:prstGeom>
          <a:noFill/>
        </p:spPr>
        <p:txBody>
          <a:bodyPr wrap="square">
            <a:spAutoFit/>
          </a:bodyPr>
          <a:lstStyle/>
          <a:p>
            <a:pPr algn="ctr"/>
            <a:r>
              <a:rPr sz="2200" b="0">
                <a:solidFill>
                  <a:srgbClr val="1A2E48"/>
                </a:solidFill>
              </a:rPr>
              <a:t>🏪</a:t>
            </a:r>
          </a:p>
        </p:txBody>
      </p:sp>
      <p:sp>
        <p:nvSpPr>
          <p:cNvPr id="19" name="TextBox 18"/>
          <p:cNvSpPr txBox="1"/>
          <p:nvPr/>
        </p:nvSpPr>
        <p:spPr>
          <a:xfrm>
            <a:off x="6368796" y="3159252"/>
            <a:ext cx="1737360" cy="402336"/>
          </a:xfrm>
          <a:prstGeom prst="rect">
            <a:avLst/>
          </a:prstGeom>
          <a:noFill/>
        </p:spPr>
        <p:txBody>
          <a:bodyPr wrap="square">
            <a:spAutoFit/>
          </a:bodyPr>
          <a:lstStyle/>
          <a:p>
            <a:pPr algn="ctr"/>
            <a:r>
              <a:rPr sz="1000" b="1">
                <a:solidFill>
                  <a:srgbClr val="1A2E48"/>
                </a:solidFill>
              </a:rPr>
              <a:t>仲 介 会 社</a:t>
            </a:r>
          </a:p>
        </p:txBody>
      </p:sp>
      <p:sp>
        <p:nvSpPr>
          <p:cNvPr id="20" name="TextBox 19"/>
          <p:cNvSpPr txBox="1"/>
          <p:nvPr/>
        </p:nvSpPr>
        <p:spPr>
          <a:xfrm>
            <a:off x="6368796" y="3561588"/>
            <a:ext cx="1737360" cy="512064"/>
          </a:xfrm>
          <a:prstGeom prst="rect">
            <a:avLst/>
          </a:prstGeom>
          <a:noFill/>
        </p:spPr>
        <p:txBody>
          <a:bodyPr wrap="square">
            <a:spAutoFit/>
          </a:bodyPr>
          <a:lstStyle/>
          <a:p>
            <a:pPr algn="ctr"/>
            <a:r>
              <a:rPr sz="900" b="0">
                <a:solidFill>
                  <a:srgbClr val="6A7A8A"/>
                </a:solidFill>
              </a:rPr>
              <a:t>入居者紹介
ストック収益</a:t>
            </a:r>
          </a:p>
        </p:txBody>
      </p:sp>
      <p:sp>
        <p:nvSpPr>
          <p:cNvPr id="21" name="Rectangle 20"/>
          <p:cNvSpPr/>
          <p:nvPr/>
        </p:nvSpPr>
        <p:spPr>
          <a:xfrm>
            <a:off x="8654796" y="2738628"/>
            <a:ext cx="1737360" cy="1463040"/>
          </a:xfrm>
          <a:prstGeom prst="roundRect">
            <a:avLst>
              <a:gd name="adj" fmla="val 3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4796" y="2830068"/>
            <a:ext cx="1737360" cy="347472"/>
          </a:xfrm>
          <a:prstGeom prst="rect">
            <a:avLst/>
          </a:prstGeom>
          <a:noFill/>
        </p:spPr>
        <p:txBody>
          <a:bodyPr wrap="square">
            <a:spAutoFit/>
          </a:bodyPr>
          <a:lstStyle/>
          <a:p>
            <a:pPr algn="ctr"/>
            <a:r>
              <a:rPr sz="2200" b="0">
                <a:solidFill>
                  <a:srgbClr val="1A2E48"/>
                </a:solidFill>
              </a:rPr>
              <a:t>👤</a:t>
            </a:r>
          </a:p>
        </p:txBody>
      </p:sp>
      <p:sp>
        <p:nvSpPr>
          <p:cNvPr id="23" name="TextBox 22"/>
          <p:cNvSpPr txBox="1"/>
          <p:nvPr/>
        </p:nvSpPr>
        <p:spPr>
          <a:xfrm>
            <a:off x="8654796" y="3159252"/>
            <a:ext cx="1737360" cy="402336"/>
          </a:xfrm>
          <a:prstGeom prst="rect">
            <a:avLst/>
          </a:prstGeom>
          <a:noFill/>
        </p:spPr>
        <p:txBody>
          <a:bodyPr wrap="square">
            <a:spAutoFit/>
          </a:bodyPr>
          <a:lstStyle/>
          <a:p>
            <a:pPr algn="ctr"/>
            <a:r>
              <a:rPr sz="1000" b="1">
                <a:solidFill>
                  <a:srgbClr val="1A2E48"/>
                </a:solidFill>
              </a:rPr>
              <a:t>入 居 者</a:t>
            </a:r>
          </a:p>
        </p:txBody>
      </p:sp>
      <p:sp>
        <p:nvSpPr>
          <p:cNvPr id="24" name="TextBox 23"/>
          <p:cNvSpPr txBox="1"/>
          <p:nvPr/>
        </p:nvSpPr>
        <p:spPr>
          <a:xfrm>
            <a:off x="8654796" y="3561588"/>
            <a:ext cx="1737360" cy="512064"/>
          </a:xfrm>
          <a:prstGeom prst="rect">
            <a:avLst/>
          </a:prstGeom>
          <a:noFill/>
        </p:spPr>
        <p:txBody>
          <a:bodyPr wrap="square">
            <a:spAutoFit/>
          </a:bodyPr>
          <a:lstStyle/>
          <a:p>
            <a:pPr algn="ctr"/>
            <a:r>
              <a:rPr sz="900" b="0">
                <a:solidFill>
                  <a:srgbClr val="6A7A8A"/>
                </a:solidFill>
              </a:rPr>
              <a:t>月額課金
サービス享受</a:t>
            </a:r>
          </a:p>
        </p:txBody>
      </p:sp>
      <p:cxnSp>
        <p:nvCxnSpPr>
          <p:cNvPr id="25" name="Connector 24"/>
          <p:cNvCxnSpPr/>
          <p:nvPr/>
        </p:nvCxnSpPr>
        <p:spPr>
          <a:xfrm>
            <a:off x="3589020.0" y="3470148.0"/>
            <a:ext cx="438912.0" cy="0.0"/>
          </a:xfrm>
          <a:prstGeom prst="line">
            <a:avLst/>
          </a:prstGeom>
          <a:ln w="19050">
            <a:solidFill>
              <a:srgbClr val="2860A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89020" y="3214116"/>
            <a:ext cx="438912" cy="201168"/>
          </a:xfrm>
          <a:prstGeom prst="rect">
            <a:avLst/>
          </a:prstGeom>
          <a:noFill/>
        </p:spPr>
        <p:txBody>
          <a:bodyPr wrap="square">
            <a:spAutoFit/>
          </a:bodyPr>
          <a:lstStyle/>
          <a:p>
            <a:pPr algn="ctr"/>
            <a:r>
              <a:rPr sz="800" b="0">
                <a:solidFill>
                  <a:srgbClr val="6A7A8A"/>
                </a:solidFill>
              </a:rPr>
              <a:t>委託</a:t>
            </a:r>
          </a:p>
        </p:txBody>
      </p:sp>
      <p:sp>
        <p:nvSpPr>
          <p:cNvPr id="27" name="TextBox 26"/>
          <p:cNvSpPr txBox="1"/>
          <p:nvPr/>
        </p:nvSpPr>
        <p:spPr>
          <a:xfrm>
            <a:off x="3589020" y="3525012"/>
            <a:ext cx="438912" cy="201168"/>
          </a:xfrm>
          <a:prstGeom prst="rect">
            <a:avLst/>
          </a:prstGeom>
          <a:noFill/>
        </p:spPr>
        <p:txBody>
          <a:bodyPr wrap="square">
            <a:spAutoFit/>
          </a:bodyPr>
          <a:lstStyle/>
          <a:p>
            <a:pPr algn="ctr"/>
            <a:r>
              <a:rPr sz="800" b="0">
                <a:solidFill>
                  <a:srgbClr val="2860A8"/>
                </a:solidFill>
              </a:rPr>
              <a:t>収益還元</a:t>
            </a:r>
          </a:p>
        </p:txBody>
      </p:sp>
      <p:cxnSp>
        <p:nvCxnSpPr>
          <p:cNvPr id="28" name="Connector 27"/>
          <p:cNvCxnSpPr/>
          <p:nvPr/>
        </p:nvCxnSpPr>
        <p:spPr>
          <a:xfrm>
            <a:off x="5875020.0" y="3470148.0"/>
            <a:ext cx="438912.0" cy="0.0"/>
          </a:xfrm>
          <a:prstGeom prst="line">
            <a:avLst/>
          </a:prstGeom>
          <a:ln w="19050">
            <a:solidFill>
              <a:srgbClr val="2860A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875020" y="3214116"/>
            <a:ext cx="438912" cy="201168"/>
          </a:xfrm>
          <a:prstGeom prst="rect">
            <a:avLst/>
          </a:prstGeom>
          <a:noFill/>
        </p:spPr>
        <p:txBody>
          <a:bodyPr wrap="square">
            <a:spAutoFit/>
          </a:bodyPr>
          <a:lstStyle/>
          <a:p>
            <a:pPr algn="ctr"/>
            <a:r>
              <a:rPr sz="800" b="0">
                <a:solidFill>
                  <a:srgbClr val="6A7A8A"/>
                </a:solidFill>
              </a:rPr>
              <a:t>紹介</a:t>
            </a:r>
          </a:p>
        </p:txBody>
      </p:sp>
      <p:sp>
        <p:nvSpPr>
          <p:cNvPr id="30" name="TextBox 29"/>
          <p:cNvSpPr txBox="1"/>
          <p:nvPr/>
        </p:nvSpPr>
        <p:spPr>
          <a:xfrm>
            <a:off x="5875020" y="3525012"/>
            <a:ext cx="438912" cy="201168"/>
          </a:xfrm>
          <a:prstGeom prst="rect">
            <a:avLst/>
          </a:prstGeom>
          <a:noFill/>
        </p:spPr>
        <p:txBody>
          <a:bodyPr wrap="square">
            <a:spAutoFit/>
          </a:bodyPr>
          <a:lstStyle/>
          <a:p>
            <a:pPr algn="ctr"/>
            <a:r>
              <a:rPr sz="800" b="0">
                <a:solidFill>
                  <a:srgbClr val="2860A8"/>
                </a:solidFill>
              </a:rPr>
              <a:t>手数料</a:t>
            </a:r>
          </a:p>
        </p:txBody>
      </p:sp>
      <p:cxnSp>
        <p:nvCxnSpPr>
          <p:cNvPr id="31" name="Connector 30"/>
          <p:cNvCxnSpPr/>
          <p:nvPr/>
        </p:nvCxnSpPr>
        <p:spPr>
          <a:xfrm>
            <a:off x="8161020.0" y="3470148.0"/>
            <a:ext cx="438912.0" cy="0.0"/>
          </a:xfrm>
          <a:prstGeom prst="line">
            <a:avLst/>
          </a:prstGeom>
          <a:ln w="19050">
            <a:solidFill>
              <a:srgbClr val="2860A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161020" y="3214116"/>
            <a:ext cx="438912" cy="201168"/>
          </a:xfrm>
          <a:prstGeom prst="rect">
            <a:avLst/>
          </a:prstGeom>
          <a:noFill/>
        </p:spPr>
        <p:txBody>
          <a:bodyPr wrap="square">
            <a:spAutoFit/>
          </a:bodyPr>
          <a:lstStyle/>
          <a:p>
            <a:pPr algn="ctr"/>
            <a:r>
              <a:rPr sz="800" b="0">
                <a:solidFill>
                  <a:srgbClr val="6A7A8A"/>
                </a:solidFill>
              </a:rPr>
              <a:t>マッチング</a:t>
            </a:r>
          </a:p>
        </p:txBody>
      </p:sp>
      <p:sp>
        <p:nvSpPr>
          <p:cNvPr id="33" name="TextBox 32"/>
          <p:cNvSpPr txBox="1"/>
          <p:nvPr/>
        </p:nvSpPr>
        <p:spPr>
          <a:xfrm>
            <a:off x="8161020" y="3525012"/>
            <a:ext cx="438912" cy="201168"/>
          </a:xfrm>
          <a:prstGeom prst="rect">
            <a:avLst/>
          </a:prstGeom>
          <a:noFill/>
        </p:spPr>
        <p:txBody>
          <a:bodyPr wrap="square">
            <a:spAutoFit/>
          </a:bodyPr>
          <a:lstStyle/>
          <a:p>
            <a:pPr algn="ctr"/>
            <a:r>
              <a:rPr sz="800" b="0">
                <a:solidFill>
                  <a:srgbClr val="2860A8"/>
                </a:solidFill>
              </a:rPr>
              <a:t>月500円〜</a:t>
            </a:r>
          </a:p>
        </p:txBody>
      </p:sp>
      <p:sp>
        <p:nvSpPr>
          <p:cNvPr id="34" name="Rectangle 33"/>
          <p:cNvSpPr/>
          <p:nvPr/>
        </p:nvSpPr>
        <p:spPr>
          <a:xfrm>
            <a:off x="3076956" y="4475988"/>
            <a:ext cx="1188720" cy="310896"/>
          </a:xfrm>
          <a:prstGeom prst="roundRect">
            <a:avLst>
              <a:gd name="adj" fmla="val 20000"/>
            </a:avLst>
          </a:prstGeom>
          <a:solidFill>
            <a:srgbClr val="FFF3E0"/>
          </a:solidFill>
          <a:ln w="12700">
            <a:solidFill>
              <a:srgbClr val="E8A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076956" y="4530852"/>
            <a:ext cx="1188720" cy="237744"/>
          </a:xfrm>
          <a:prstGeom prst="rect">
            <a:avLst/>
          </a:prstGeom>
          <a:noFill/>
        </p:spPr>
        <p:txBody>
          <a:bodyPr wrap="square">
            <a:spAutoFit/>
          </a:bodyPr>
          <a:lstStyle/>
          <a:p>
            <a:pPr algn="ctr"/>
            <a:r>
              <a:rPr sz="900" b="0">
                <a:solidFill>
                  <a:srgbClr val="E8A020"/>
                </a:solidFill>
              </a:rPr>
              <a:t>⚡ 電気</a:t>
            </a:r>
          </a:p>
        </p:txBody>
      </p:sp>
      <p:cxnSp>
        <p:nvCxnSpPr>
          <p:cNvPr id="36" name="Connector 35"/>
          <p:cNvCxnSpPr/>
          <p:nvPr/>
        </p:nvCxnSpPr>
        <p:spPr>
          <a:xfrm>
            <a:off x="3671316.0" y="4201668.0"/>
            <a:ext cx="0.0" cy="274320.0"/>
          </a:xfrm>
          <a:prstGeom prst="line">
            <a:avLst/>
          </a:prstGeom>
          <a:ln w="9525">
            <a:solidFill>
              <a:srgbClr val="6A7A8A"/>
            </a:solidFill>
            <a:prstDash val="dash"/>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357116" y="4475988"/>
            <a:ext cx="1188720" cy="310896"/>
          </a:xfrm>
          <a:prstGeom prst="roundRect">
            <a:avLst>
              <a:gd name="adj" fmla="val 20000"/>
            </a:avLst>
          </a:prstGeom>
          <a:solidFill>
            <a:srgbClr val="F3E5F5"/>
          </a:solidFill>
          <a:ln w="12700">
            <a:solidFill>
              <a:srgbClr val="906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57116" y="4530852"/>
            <a:ext cx="1188720" cy="237744"/>
          </a:xfrm>
          <a:prstGeom prst="rect">
            <a:avLst/>
          </a:prstGeom>
          <a:noFill/>
        </p:spPr>
        <p:txBody>
          <a:bodyPr wrap="square">
            <a:spAutoFit/>
          </a:bodyPr>
          <a:lstStyle/>
          <a:p>
            <a:pPr algn="ctr"/>
            <a:r>
              <a:rPr sz="900" b="0">
                <a:solidFill>
                  <a:srgbClr val="9060B8"/>
                </a:solidFill>
              </a:rPr>
              <a:t>🎬 コンテンツ</a:t>
            </a:r>
          </a:p>
        </p:txBody>
      </p:sp>
      <p:cxnSp>
        <p:nvCxnSpPr>
          <p:cNvPr id="39" name="Connector 38"/>
          <p:cNvCxnSpPr/>
          <p:nvPr/>
        </p:nvCxnSpPr>
        <p:spPr>
          <a:xfrm>
            <a:off x="4951476.0" y="4201668.0"/>
            <a:ext cx="0.0" cy="274320.0"/>
          </a:xfrm>
          <a:prstGeom prst="line">
            <a:avLst/>
          </a:prstGeom>
          <a:ln w="9525">
            <a:solidFill>
              <a:srgbClr val="6A7A8A"/>
            </a:solidFill>
            <a:prstDash val="dash"/>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37276" y="4475988"/>
            <a:ext cx="1188720" cy="310896"/>
          </a:xfrm>
          <a:prstGeom prst="roundRect">
            <a:avLst>
              <a:gd name="adj" fmla="val 20000"/>
            </a:avLst>
          </a:prstGeom>
          <a:solidFill>
            <a:srgbClr val="E3F2FD"/>
          </a:solidFill>
          <a:ln w="12700">
            <a:solidFill>
              <a:srgbClr val="208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37276" y="4530852"/>
            <a:ext cx="1188720" cy="237744"/>
          </a:xfrm>
          <a:prstGeom prst="rect">
            <a:avLst/>
          </a:prstGeom>
          <a:noFill/>
        </p:spPr>
        <p:txBody>
          <a:bodyPr wrap="square">
            <a:spAutoFit/>
          </a:bodyPr>
          <a:lstStyle/>
          <a:p>
            <a:pPr algn="ctr"/>
            <a:r>
              <a:rPr sz="900" b="0">
                <a:solidFill>
                  <a:srgbClr val="2080C0"/>
                </a:solidFill>
              </a:rPr>
              <a:t>📡 ネット</a:t>
            </a:r>
          </a:p>
        </p:txBody>
      </p:sp>
      <p:cxnSp>
        <p:nvCxnSpPr>
          <p:cNvPr id="42" name="Connector 41"/>
          <p:cNvCxnSpPr/>
          <p:nvPr/>
        </p:nvCxnSpPr>
        <p:spPr>
          <a:xfrm>
            <a:off x="6231636.0" y="4201668.0"/>
            <a:ext cx="0.0" cy="274320.0"/>
          </a:xfrm>
          <a:prstGeom prst="line">
            <a:avLst/>
          </a:prstGeom>
          <a:ln w="9525">
            <a:solidFill>
              <a:srgbClr val="6A7A8A"/>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037076" y="1024128"/>
            <a:ext cx="1828800" cy="237744"/>
          </a:xfrm>
          <a:prstGeom prst="rect">
            <a:avLst/>
          </a:prstGeom>
          <a:noFill/>
        </p:spPr>
        <p:txBody>
          <a:bodyPr wrap="square">
            <a:spAutoFit/>
          </a:bodyPr>
          <a:lstStyle/>
          <a:p>
            <a:pPr algn="ctr"/>
            <a:r>
              <a:rPr sz="800" b="0">
                <a:solidFill>
                  <a:srgbClr val="E8A020"/>
                </a:solidFill>
              </a:rPr>
              <a:t>← 月額料金支払い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07 / Fee Structure</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手 数 料 イ メ ー ジ</a:t>
            </a:r>
          </a:p>
        </p:txBody>
      </p:sp>
      <p:sp>
        <p:nvSpPr>
          <p:cNvPr id="5" name="TextBox 4"/>
          <p:cNvSpPr txBox="1"/>
          <p:nvPr/>
        </p:nvSpPr>
        <p:spPr>
          <a:xfrm>
            <a:off x="9144000" y="274320"/>
            <a:ext cx="2834640" cy="365760"/>
          </a:xfrm>
          <a:prstGeom prst="rect">
            <a:avLst/>
          </a:prstGeom>
          <a:noFill/>
        </p:spPr>
        <p:txBody>
          <a:bodyPr wrap="square">
            <a:spAutoFit/>
          </a:bodyPr>
          <a:lstStyle/>
          <a:p>
            <a:pPr algn="r"/>
            <a:r>
              <a:rPr sz="900" b="0">
                <a:solidFill>
                  <a:srgbClr val="AABBCC"/>
                </a:solidFill>
              </a:rPr>
              <a:t>ストック収益モデル</a:t>
            </a:r>
          </a:p>
        </p:txBody>
      </p:sp>
      <p:sp>
        <p:nvSpPr>
          <p:cNvPr id="6" name="Rectangle 5"/>
          <p:cNvSpPr/>
          <p:nvPr/>
        </p:nvSpPr>
        <p:spPr>
          <a:xfrm>
            <a:off x="320040" y="886968"/>
            <a:ext cx="5646420"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 y="1051560"/>
            <a:ext cx="5244084" cy="237744"/>
          </a:xfrm>
          <a:prstGeom prst="rect">
            <a:avLst/>
          </a:prstGeom>
          <a:noFill/>
        </p:spPr>
        <p:txBody>
          <a:bodyPr wrap="square">
            <a:spAutoFit/>
          </a:bodyPr>
          <a:lstStyle/>
          <a:p>
            <a:pPr algn="l"/>
            <a:r>
              <a:rPr sz="900" b="1">
                <a:solidFill>
                  <a:srgbClr val="6A7A8A"/>
                </a:solidFill>
              </a:rPr>
              <a:t>手数料内訳イメージ</a:t>
            </a:r>
          </a:p>
        </p:txBody>
      </p:sp>
      <p:sp>
        <p:nvSpPr>
          <p:cNvPr id="8" name="Rectangle 7"/>
          <p:cNvSpPr/>
          <p:nvPr/>
        </p:nvSpPr>
        <p:spPr>
          <a:xfrm>
            <a:off x="521208" y="1618488"/>
            <a:ext cx="5244084" cy="9525"/>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380744"/>
            <a:ext cx="2884246" cy="256032"/>
          </a:xfrm>
          <a:prstGeom prst="rect">
            <a:avLst/>
          </a:prstGeom>
          <a:noFill/>
        </p:spPr>
        <p:txBody>
          <a:bodyPr wrap="square">
            <a:spAutoFit/>
          </a:bodyPr>
          <a:lstStyle/>
          <a:p>
            <a:pPr algn="l"/>
            <a:r>
              <a:rPr sz="1000" b="0">
                <a:solidFill>
                  <a:srgbClr val="1A2E48"/>
                </a:solidFill>
              </a:rPr>
              <a:t>入居者月額基本料</a:t>
            </a:r>
          </a:p>
        </p:txBody>
      </p:sp>
      <p:sp>
        <p:nvSpPr>
          <p:cNvPr id="10" name="TextBox 9"/>
          <p:cNvSpPr txBox="1"/>
          <p:nvPr/>
        </p:nvSpPr>
        <p:spPr>
          <a:xfrm>
            <a:off x="3405454" y="1380744"/>
            <a:ext cx="2359837" cy="256032"/>
          </a:xfrm>
          <a:prstGeom prst="rect">
            <a:avLst/>
          </a:prstGeom>
          <a:noFill/>
        </p:spPr>
        <p:txBody>
          <a:bodyPr wrap="square">
            <a:spAutoFit/>
          </a:bodyPr>
          <a:lstStyle/>
          <a:p>
            <a:pPr algn="r"/>
            <a:r>
              <a:rPr sz="1200" b="1">
                <a:solidFill>
                  <a:srgbClr val="2860A8"/>
                </a:solidFill>
              </a:rPr>
              <a:t>¥500 / 月</a:t>
            </a:r>
          </a:p>
        </p:txBody>
      </p:sp>
      <p:sp>
        <p:nvSpPr>
          <p:cNvPr id="11" name="Rectangle 10"/>
          <p:cNvSpPr/>
          <p:nvPr/>
        </p:nvSpPr>
        <p:spPr>
          <a:xfrm>
            <a:off x="521208" y="2002536"/>
            <a:ext cx="5244084" cy="9525"/>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1764792"/>
            <a:ext cx="2884246" cy="256032"/>
          </a:xfrm>
          <a:prstGeom prst="rect">
            <a:avLst/>
          </a:prstGeom>
          <a:noFill/>
        </p:spPr>
        <p:txBody>
          <a:bodyPr wrap="square">
            <a:spAutoFit/>
          </a:bodyPr>
          <a:lstStyle/>
          <a:p>
            <a:pPr algn="l"/>
            <a:r>
              <a:rPr sz="1000" b="0">
                <a:solidFill>
                  <a:srgbClr val="1A2E48"/>
                </a:solidFill>
              </a:rPr>
              <a:t>電気サービス収益</a:t>
            </a:r>
          </a:p>
        </p:txBody>
      </p:sp>
      <p:sp>
        <p:nvSpPr>
          <p:cNvPr id="13" name="TextBox 12"/>
          <p:cNvSpPr txBox="1"/>
          <p:nvPr/>
        </p:nvSpPr>
        <p:spPr>
          <a:xfrm>
            <a:off x="3405454" y="1764792"/>
            <a:ext cx="2359837" cy="256032"/>
          </a:xfrm>
          <a:prstGeom prst="rect">
            <a:avLst/>
          </a:prstGeom>
          <a:noFill/>
        </p:spPr>
        <p:txBody>
          <a:bodyPr wrap="square">
            <a:spAutoFit/>
          </a:bodyPr>
          <a:lstStyle/>
          <a:p>
            <a:pPr algn="r"/>
            <a:r>
              <a:rPr sz="1200" b="1">
                <a:solidFill>
                  <a:srgbClr val="2860A8"/>
                </a:solidFill>
              </a:rPr>
              <a:t>●% シェア</a:t>
            </a:r>
          </a:p>
        </p:txBody>
      </p:sp>
      <p:sp>
        <p:nvSpPr>
          <p:cNvPr id="14" name="Rectangle 13"/>
          <p:cNvSpPr/>
          <p:nvPr/>
        </p:nvSpPr>
        <p:spPr>
          <a:xfrm>
            <a:off x="521208" y="2386584"/>
            <a:ext cx="5244084" cy="9525"/>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2148840"/>
            <a:ext cx="2884246" cy="256032"/>
          </a:xfrm>
          <a:prstGeom prst="rect">
            <a:avLst/>
          </a:prstGeom>
          <a:noFill/>
        </p:spPr>
        <p:txBody>
          <a:bodyPr wrap="square">
            <a:spAutoFit/>
          </a:bodyPr>
          <a:lstStyle/>
          <a:p>
            <a:pPr algn="l"/>
            <a:r>
              <a:rPr sz="1000" b="0">
                <a:solidFill>
                  <a:srgbClr val="1A2E48"/>
                </a:solidFill>
              </a:rPr>
              <a:t>コンテンツ収益</a:t>
            </a:r>
          </a:p>
        </p:txBody>
      </p:sp>
      <p:sp>
        <p:nvSpPr>
          <p:cNvPr id="16" name="TextBox 15"/>
          <p:cNvSpPr txBox="1"/>
          <p:nvPr/>
        </p:nvSpPr>
        <p:spPr>
          <a:xfrm>
            <a:off x="3405454" y="2148840"/>
            <a:ext cx="2359837" cy="256032"/>
          </a:xfrm>
          <a:prstGeom prst="rect">
            <a:avLst/>
          </a:prstGeom>
          <a:noFill/>
        </p:spPr>
        <p:txBody>
          <a:bodyPr wrap="square">
            <a:spAutoFit/>
          </a:bodyPr>
          <a:lstStyle/>
          <a:p>
            <a:pPr algn="r"/>
            <a:r>
              <a:rPr sz="1200" b="1">
                <a:solidFill>
                  <a:srgbClr val="2860A8"/>
                </a:solidFill>
              </a:rPr>
              <a:t>●% シェア</a:t>
            </a:r>
          </a:p>
        </p:txBody>
      </p:sp>
      <p:sp>
        <p:nvSpPr>
          <p:cNvPr id="17" name="Rectangle 16"/>
          <p:cNvSpPr/>
          <p:nvPr/>
        </p:nvSpPr>
        <p:spPr>
          <a:xfrm>
            <a:off x="521208" y="2770632"/>
            <a:ext cx="5244084" cy="9525"/>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532888"/>
            <a:ext cx="2884246" cy="256032"/>
          </a:xfrm>
          <a:prstGeom prst="rect">
            <a:avLst/>
          </a:prstGeom>
          <a:noFill/>
        </p:spPr>
        <p:txBody>
          <a:bodyPr wrap="square">
            <a:spAutoFit/>
          </a:bodyPr>
          <a:lstStyle/>
          <a:p>
            <a:pPr algn="l"/>
            <a:r>
              <a:rPr sz="1000" b="0">
                <a:solidFill>
                  <a:srgbClr val="1A2E48"/>
                </a:solidFill>
              </a:rPr>
              <a:t>インターネット収益</a:t>
            </a:r>
          </a:p>
        </p:txBody>
      </p:sp>
      <p:sp>
        <p:nvSpPr>
          <p:cNvPr id="19" name="TextBox 18"/>
          <p:cNvSpPr txBox="1"/>
          <p:nvPr/>
        </p:nvSpPr>
        <p:spPr>
          <a:xfrm>
            <a:off x="3405454" y="2532888"/>
            <a:ext cx="2359837" cy="256032"/>
          </a:xfrm>
          <a:prstGeom prst="rect">
            <a:avLst/>
          </a:prstGeom>
          <a:noFill/>
        </p:spPr>
        <p:txBody>
          <a:bodyPr wrap="square">
            <a:spAutoFit/>
          </a:bodyPr>
          <a:lstStyle/>
          <a:p>
            <a:pPr algn="r"/>
            <a:r>
              <a:rPr sz="1200" b="1">
                <a:solidFill>
                  <a:srgbClr val="2860A8"/>
                </a:solidFill>
              </a:rPr>
              <a:t>●% シェア</a:t>
            </a:r>
          </a:p>
        </p:txBody>
      </p:sp>
      <p:sp>
        <p:nvSpPr>
          <p:cNvPr id="20" name="Rectangle 19"/>
          <p:cNvSpPr/>
          <p:nvPr/>
        </p:nvSpPr>
        <p:spPr>
          <a:xfrm>
            <a:off x="521208" y="2916936"/>
            <a:ext cx="5244084" cy="25400"/>
          </a:xfrm>
          <a:prstGeom prst="rect">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3026664"/>
            <a:ext cx="3146450" cy="347472"/>
          </a:xfrm>
          <a:prstGeom prst="rect">
            <a:avLst/>
          </a:prstGeom>
          <a:noFill/>
        </p:spPr>
        <p:txBody>
          <a:bodyPr wrap="square">
            <a:spAutoFit/>
          </a:bodyPr>
          <a:lstStyle/>
          <a:p>
            <a:pPr algn="l"/>
            <a:r>
              <a:rPr sz="1100" b="1">
                <a:solidFill>
                  <a:srgbClr val="1A2E48"/>
                </a:solidFill>
              </a:rPr>
              <a:t>仲介会社への還元率</a:t>
            </a:r>
          </a:p>
        </p:txBody>
      </p:sp>
      <p:sp>
        <p:nvSpPr>
          <p:cNvPr id="22" name="TextBox 21"/>
          <p:cNvSpPr txBox="1"/>
          <p:nvPr/>
        </p:nvSpPr>
        <p:spPr>
          <a:xfrm>
            <a:off x="3667658" y="3026664"/>
            <a:ext cx="2097633" cy="347472"/>
          </a:xfrm>
          <a:prstGeom prst="rect">
            <a:avLst/>
          </a:prstGeom>
          <a:noFill/>
        </p:spPr>
        <p:txBody>
          <a:bodyPr wrap="square">
            <a:spAutoFit/>
          </a:bodyPr>
          <a:lstStyle/>
          <a:p>
            <a:pPr algn="r"/>
            <a:r>
              <a:rPr sz="2200" b="1">
                <a:solidFill>
                  <a:srgbClr val="2860A8"/>
                </a:solidFill>
              </a:rPr>
              <a:t>●%</a:t>
            </a:r>
          </a:p>
        </p:txBody>
      </p:sp>
      <p:sp>
        <p:nvSpPr>
          <p:cNvPr id="23" name="Rectangle 22"/>
          <p:cNvSpPr/>
          <p:nvPr/>
        </p:nvSpPr>
        <p:spPr>
          <a:xfrm>
            <a:off x="521208" y="3529584"/>
            <a:ext cx="5244084" cy="603504"/>
          </a:xfrm>
          <a:prstGeom prst="roundRect">
            <a:avLst>
              <a:gd name="adj" fmla="val 15000"/>
            </a:avLst>
          </a:prstGeom>
          <a:solidFill>
            <a:srgbClr val="FFFFFF"/>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3621024"/>
            <a:ext cx="5024628" cy="457200"/>
          </a:xfrm>
          <a:prstGeom prst="rect">
            <a:avLst/>
          </a:prstGeom>
          <a:noFill/>
        </p:spPr>
        <p:txBody>
          <a:bodyPr wrap="square">
            <a:spAutoFit/>
          </a:bodyPr>
          <a:lstStyle/>
          <a:p>
            <a:pPr algn="l"/>
            <a:r>
              <a:rPr sz="800" b="0">
                <a:solidFill>
                  <a:srgbClr val="6A7A8A"/>
                </a:solidFill>
              </a:rPr>
              <a:t>※ 入居者が在籍する限り毎月継続して受け取れるストック型収益。
　 戸数が増えるほど積み上がります。</a:t>
            </a:r>
          </a:p>
        </p:txBody>
      </p:sp>
      <p:sp>
        <p:nvSpPr>
          <p:cNvPr id="25" name="Rectangle 24"/>
          <p:cNvSpPr/>
          <p:nvPr/>
        </p:nvSpPr>
        <p:spPr>
          <a:xfrm>
            <a:off x="6222492" y="886968"/>
            <a:ext cx="5646420" cy="5788152"/>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3660" y="1051560"/>
            <a:ext cx="5244084" cy="237744"/>
          </a:xfrm>
          <a:prstGeom prst="rect">
            <a:avLst/>
          </a:prstGeom>
          <a:noFill/>
        </p:spPr>
        <p:txBody>
          <a:bodyPr wrap="square">
            <a:spAutoFit/>
          </a:bodyPr>
          <a:lstStyle/>
          <a:p>
            <a:pPr algn="l"/>
            <a:r>
              <a:rPr sz="900" b="1">
                <a:solidFill>
                  <a:srgbClr val="6A7A8A"/>
                </a:solidFill>
              </a:rPr>
              <a:t>ストック収益積み上がりイメージ</a:t>
            </a:r>
          </a:p>
        </p:txBody>
      </p:sp>
      <p:sp>
        <p:nvSpPr>
          <p:cNvPr id="27" name="Rectangle 26"/>
          <p:cNvSpPr/>
          <p:nvPr/>
        </p:nvSpPr>
        <p:spPr>
          <a:xfrm>
            <a:off x="6423660" y="3637868"/>
            <a:ext cx="353187" cy="120315"/>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68287" y="3517552"/>
            <a:ext cx="353187" cy="240631"/>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2914" y="3373173"/>
            <a:ext cx="353187" cy="385010"/>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57541" y="3216762"/>
            <a:ext cx="353187" cy="541421"/>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2168" y="3012226"/>
            <a:ext cx="353187" cy="745957"/>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46795" y="2795657"/>
            <a:ext cx="353187" cy="962526"/>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91422" y="2579089"/>
            <a:ext cx="353187" cy="1179094"/>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36049" y="2374552"/>
            <a:ext cx="353187" cy="1383631"/>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80676" y="2133920"/>
            <a:ext cx="353187" cy="1624263"/>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25303" y="1929384"/>
            <a:ext cx="353187" cy="1828799"/>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869930" y="1712815"/>
            <a:ext cx="353187" cy="2045368"/>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314557" y="1472184"/>
            <a:ext cx="353187" cy="2286000"/>
          </a:xfrm>
          <a:prstGeom prst="roundRect">
            <a:avLst>
              <a:gd name="adj" fmla="val 8000"/>
            </a:avLst>
          </a:prstGeom>
          <a:solidFill>
            <a:srgbClr val="286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23660" y="3794760"/>
            <a:ext cx="5244084" cy="12700"/>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3660" y="3831336"/>
            <a:ext cx="353187" cy="182880"/>
          </a:xfrm>
          <a:prstGeom prst="rect">
            <a:avLst/>
          </a:prstGeom>
          <a:noFill/>
        </p:spPr>
        <p:txBody>
          <a:bodyPr wrap="square">
            <a:spAutoFit/>
          </a:bodyPr>
          <a:lstStyle/>
          <a:p>
            <a:pPr algn="ctr"/>
            <a:r>
              <a:rPr sz="600" b="0">
                <a:solidFill>
                  <a:srgbClr val="6A7A8A"/>
                </a:solidFill>
              </a:rPr>
              <a:t>1</a:t>
            </a:r>
          </a:p>
        </p:txBody>
      </p:sp>
      <p:sp>
        <p:nvSpPr>
          <p:cNvPr id="41" name="TextBox 40"/>
          <p:cNvSpPr txBox="1"/>
          <p:nvPr/>
        </p:nvSpPr>
        <p:spPr>
          <a:xfrm>
            <a:off x="6868287" y="3831336"/>
            <a:ext cx="353187" cy="182880"/>
          </a:xfrm>
          <a:prstGeom prst="rect">
            <a:avLst/>
          </a:prstGeom>
          <a:noFill/>
        </p:spPr>
        <p:txBody>
          <a:bodyPr wrap="square">
            <a:spAutoFit/>
          </a:bodyPr>
          <a:lstStyle/>
          <a:p>
            <a:pPr algn="ctr"/>
            <a:r>
              <a:rPr sz="600" b="0">
                <a:solidFill>
                  <a:srgbClr val="6A7A8A"/>
                </a:solidFill>
              </a:rPr>
              <a:t>2</a:t>
            </a:r>
          </a:p>
        </p:txBody>
      </p:sp>
      <p:sp>
        <p:nvSpPr>
          <p:cNvPr id="42" name="TextBox 41"/>
          <p:cNvSpPr txBox="1"/>
          <p:nvPr/>
        </p:nvSpPr>
        <p:spPr>
          <a:xfrm>
            <a:off x="7312914" y="3831336"/>
            <a:ext cx="353187" cy="182880"/>
          </a:xfrm>
          <a:prstGeom prst="rect">
            <a:avLst/>
          </a:prstGeom>
          <a:noFill/>
        </p:spPr>
        <p:txBody>
          <a:bodyPr wrap="square">
            <a:spAutoFit/>
          </a:bodyPr>
          <a:lstStyle/>
          <a:p>
            <a:pPr algn="ctr"/>
            <a:r>
              <a:rPr sz="600" b="0">
                <a:solidFill>
                  <a:srgbClr val="6A7A8A"/>
                </a:solidFill>
              </a:rPr>
              <a:t>3</a:t>
            </a:r>
          </a:p>
        </p:txBody>
      </p:sp>
      <p:sp>
        <p:nvSpPr>
          <p:cNvPr id="43" name="TextBox 42"/>
          <p:cNvSpPr txBox="1"/>
          <p:nvPr/>
        </p:nvSpPr>
        <p:spPr>
          <a:xfrm>
            <a:off x="7757541" y="3831336"/>
            <a:ext cx="353187" cy="182880"/>
          </a:xfrm>
          <a:prstGeom prst="rect">
            <a:avLst/>
          </a:prstGeom>
          <a:noFill/>
        </p:spPr>
        <p:txBody>
          <a:bodyPr wrap="square">
            <a:spAutoFit/>
          </a:bodyPr>
          <a:lstStyle/>
          <a:p>
            <a:pPr algn="ctr"/>
            <a:r>
              <a:rPr sz="600" b="0">
                <a:solidFill>
                  <a:srgbClr val="6A7A8A"/>
                </a:solidFill>
              </a:rPr>
              <a:t>4</a:t>
            </a:r>
          </a:p>
        </p:txBody>
      </p:sp>
      <p:sp>
        <p:nvSpPr>
          <p:cNvPr id="44" name="TextBox 43"/>
          <p:cNvSpPr txBox="1"/>
          <p:nvPr/>
        </p:nvSpPr>
        <p:spPr>
          <a:xfrm>
            <a:off x="8202168" y="3831336"/>
            <a:ext cx="353187" cy="182880"/>
          </a:xfrm>
          <a:prstGeom prst="rect">
            <a:avLst/>
          </a:prstGeom>
          <a:noFill/>
        </p:spPr>
        <p:txBody>
          <a:bodyPr wrap="square">
            <a:spAutoFit/>
          </a:bodyPr>
          <a:lstStyle/>
          <a:p>
            <a:pPr algn="ctr"/>
            <a:r>
              <a:rPr sz="600" b="0">
                <a:solidFill>
                  <a:srgbClr val="6A7A8A"/>
                </a:solidFill>
              </a:rPr>
              <a:t>5</a:t>
            </a:r>
          </a:p>
        </p:txBody>
      </p:sp>
      <p:sp>
        <p:nvSpPr>
          <p:cNvPr id="45" name="TextBox 44"/>
          <p:cNvSpPr txBox="1"/>
          <p:nvPr/>
        </p:nvSpPr>
        <p:spPr>
          <a:xfrm>
            <a:off x="8646795" y="3831336"/>
            <a:ext cx="353187" cy="182880"/>
          </a:xfrm>
          <a:prstGeom prst="rect">
            <a:avLst/>
          </a:prstGeom>
          <a:noFill/>
        </p:spPr>
        <p:txBody>
          <a:bodyPr wrap="square">
            <a:spAutoFit/>
          </a:bodyPr>
          <a:lstStyle/>
          <a:p>
            <a:pPr algn="ctr"/>
            <a:r>
              <a:rPr sz="600" b="0">
                <a:solidFill>
                  <a:srgbClr val="6A7A8A"/>
                </a:solidFill>
              </a:rPr>
              <a:t>6</a:t>
            </a:r>
          </a:p>
        </p:txBody>
      </p:sp>
      <p:sp>
        <p:nvSpPr>
          <p:cNvPr id="46" name="TextBox 45"/>
          <p:cNvSpPr txBox="1"/>
          <p:nvPr/>
        </p:nvSpPr>
        <p:spPr>
          <a:xfrm>
            <a:off x="9091422" y="3831336"/>
            <a:ext cx="353187" cy="182880"/>
          </a:xfrm>
          <a:prstGeom prst="rect">
            <a:avLst/>
          </a:prstGeom>
          <a:noFill/>
        </p:spPr>
        <p:txBody>
          <a:bodyPr wrap="square">
            <a:spAutoFit/>
          </a:bodyPr>
          <a:lstStyle/>
          <a:p>
            <a:pPr algn="ctr"/>
            <a:r>
              <a:rPr sz="600" b="0">
                <a:solidFill>
                  <a:srgbClr val="6A7A8A"/>
                </a:solidFill>
              </a:rPr>
              <a:t>9</a:t>
            </a:r>
          </a:p>
        </p:txBody>
      </p:sp>
      <p:sp>
        <p:nvSpPr>
          <p:cNvPr id="47" name="TextBox 46"/>
          <p:cNvSpPr txBox="1"/>
          <p:nvPr/>
        </p:nvSpPr>
        <p:spPr>
          <a:xfrm>
            <a:off x="9536049" y="3831336"/>
            <a:ext cx="353187" cy="182880"/>
          </a:xfrm>
          <a:prstGeom prst="rect">
            <a:avLst/>
          </a:prstGeom>
          <a:noFill/>
        </p:spPr>
        <p:txBody>
          <a:bodyPr wrap="square">
            <a:spAutoFit/>
          </a:bodyPr>
          <a:lstStyle/>
          <a:p>
            <a:pPr algn="ctr"/>
            <a:r>
              <a:rPr sz="600" b="0">
                <a:solidFill>
                  <a:srgbClr val="6A7A8A"/>
                </a:solidFill>
              </a:rPr>
              <a:t>12</a:t>
            </a:r>
          </a:p>
        </p:txBody>
      </p:sp>
      <p:sp>
        <p:nvSpPr>
          <p:cNvPr id="48" name="TextBox 47"/>
          <p:cNvSpPr txBox="1"/>
          <p:nvPr/>
        </p:nvSpPr>
        <p:spPr>
          <a:xfrm>
            <a:off x="9980676" y="3831336"/>
            <a:ext cx="353187" cy="182880"/>
          </a:xfrm>
          <a:prstGeom prst="rect">
            <a:avLst/>
          </a:prstGeom>
          <a:noFill/>
        </p:spPr>
        <p:txBody>
          <a:bodyPr wrap="square">
            <a:spAutoFit/>
          </a:bodyPr>
          <a:lstStyle/>
          <a:p>
            <a:pPr algn="ctr"/>
            <a:r>
              <a:rPr sz="600" b="0">
                <a:solidFill>
                  <a:srgbClr val="6A7A8A"/>
                </a:solidFill>
              </a:rPr>
              <a:t>15</a:t>
            </a:r>
          </a:p>
        </p:txBody>
      </p:sp>
      <p:sp>
        <p:nvSpPr>
          <p:cNvPr id="49" name="TextBox 48"/>
          <p:cNvSpPr txBox="1"/>
          <p:nvPr/>
        </p:nvSpPr>
        <p:spPr>
          <a:xfrm>
            <a:off x="10425303" y="3831336"/>
            <a:ext cx="353187" cy="182880"/>
          </a:xfrm>
          <a:prstGeom prst="rect">
            <a:avLst/>
          </a:prstGeom>
          <a:noFill/>
        </p:spPr>
        <p:txBody>
          <a:bodyPr wrap="square">
            <a:spAutoFit/>
          </a:bodyPr>
          <a:lstStyle/>
          <a:p>
            <a:pPr algn="ctr"/>
            <a:r>
              <a:rPr sz="600" b="0">
                <a:solidFill>
                  <a:srgbClr val="6A7A8A"/>
                </a:solidFill>
              </a:rPr>
              <a:t>18</a:t>
            </a:r>
          </a:p>
        </p:txBody>
      </p:sp>
      <p:sp>
        <p:nvSpPr>
          <p:cNvPr id="50" name="TextBox 49"/>
          <p:cNvSpPr txBox="1"/>
          <p:nvPr/>
        </p:nvSpPr>
        <p:spPr>
          <a:xfrm>
            <a:off x="10869930" y="3831336"/>
            <a:ext cx="353187" cy="182880"/>
          </a:xfrm>
          <a:prstGeom prst="rect">
            <a:avLst/>
          </a:prstGeom>
          <a:noFill/>
        </p:spPr>
        <p:txBody>
          <a:bodyPr wrap="square">
            <a:spAutoFit/>
          </a:bodyPr>
          <a:lstStyle/>
          <a:p>
            <a:pPr algn="ctr"/>
            <a:r>
              <a:rPr sz="600" b="0">
                <a:solidFill>
                  <a:srgbClr val="6A7A8A"/>
                </a:solidFill>
              </a:rPr>
              <a:t>21</a:t>
            </a:r>
          </a:p>
        </p:txBody>
      </p:sp>
      <p:sp>
        <p:nvSpPr>
          <p:cNvPr id="51" name="TextBox 50"/>
          <p:cNvSpPr txBox="1"/>
          <p:nvPr/>
        </p:nvSpPr>
        <p:spPr>
          <a:xfrm>
            <a:off x="11314557" y="3831336"/>
            <a:ext cx="353187" cy="182880"/>
          </a:xfrm>
          <a:prstGeom prst="rect">
            <a:avLst/>
          </a:prstGeom>
          <a:noFill/>
        </p:spPr>
        <p:txBody>
          <a:bodyPr wrap="square">
            <a:spAutoFit/>
          </a:bodyPr>
          <a:lstStyle/>
          <a:p>
            <a:pPr algn="ctr"/>
            <a:r>
              <a:rPr sz="600" b="0">
                <a:solidFill>
                  <a:srgbClr val="6A7A8A"/>
                </a:solidFill>
              </a:rPr>
              <a:t>24ヶ月</a:t>
            </a:r>
          </a:p>
        </p:txBody>
      </p:sp>
      <p:sp>
        <p:nvSpPr>
          <p:cNvPr id="52" name="TextBox 51"/>
          <p:cNvSpPr txBox="1"/>
          <p:nvPr/>
        </p:nvSpPr>
        <p:spPr>
          <a:xfrm>
            <a:off x="6423660" y="4105656"/>
            <a:ext cx="5244084" cy="182880"/>
          </a:xfrm>
          <a:prstGeom prst="rect">
            <a:avLst/>
          </a:prstGeom>
          <a:noFill/>
        </p:spPr>
        <p:txBody>
          <a:bodyPr wrap="square">
            <a:spAutoFit/>
          </a:bodyPr>
          <a:lstStyle/>
          <a:p>
            <a:pPr algn="l"/>
            <a:r>
              <a:rPr sz="700" b="0">
                <a:solidFill>
                  <a:srgbClr val="6A7A8A"/>
                </a:solidFill>
              </a:rPr>
              <a:t>※ 保有戸数・稼働率に応じた試算イメージ。実際の収益は条件によって異なります。</a:t>
            </a:r>
          </a:p>
        </p:txBody>
      </p:sp>
      <p:sp>
        <p:nvSpPr>
          <p:cNvPr id="53" name="Rectangle 52"/>
          <p:cNvSpPr/>
          <p:nvPr/>
        </p:nvSpPr>
        <p:spPr>
          <a:xfrm>
            <a:off x="6423660" y="4379976"/>
            <a:ext cx="2558034" cy="658368"/>
          </a:xfrm>
          <a:prstGeom prst="roundRect">
            <a:avLst>
              <a:gd name="adj" fmla="val 40000"/>
            </a:avLst>
          </a:prstGeom>
          <a:solidFill>
            <a:srgbClr val="FFFFFF"/>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23660" y="4434840"/>
            <a:ext cx="2558034" cy="182880"/>
          </a:xfrm>
          <a:prstGeom prst="rect">
            <a:avLst/>
          </a:prstGeom>
          <a:noFill/>
        </p:spPr>
        <p:txBody>
          <a:bodyPr wrap="square">
            <a:spAutoFit/>
          </a:bodyPr>
          <a:lstStyle/>
          <a:p>
            <a:pPr algn="ctr"/>
            <a:r>
              <a:rPr sz="700" b="0">
                <a:solidFill>
                  <a:srgbClr val="6A7A8A"/>
                </a:solidFill>
              </a:rPr>
              <a:t>100戸×24ヶ月 目安</a:t>
            </a:r>
          </a:p>
        </p:txBody>
      </p:sp>
      <p:sp>
        <p:nvSpPr>
          <p:cNvPr id="55" name="TextBox 54"/>
          <p:cNvSpPr txBox="1"/>
          <p:nvPr/>
        </p:nvSpPr>
        <p:spPr>
          <a:xfrm>
            <a:off x="6423660" y="4654296"/>
            <a:ext cx="2558034" cy="310896"/>
          </a:xfrm>
          <a:prstGeom prst="rect">
            <a:avLst/>
          </a:prstGeom>
          <a:noFill/>
        </p:spPr>
        <p:txBody>
          <a:bodyPr wrap="square">
            <a:spAutoFit/>
          </a:bodyPr>
          <a:lstStyle/>
          <a:p>
            <a:pPr algn="ctr"/>
            <a:r>
              <a:rPr sz="1400" b="1">
                <a:solidFill>
                  <a:srgbClr val="2860A8"/>
                </a:solidFill>
              </a:rPr>
              <a:t>●●万円/月</a:t>
            </a:r>
          </a:p>
        </p:txBody>
      </p:sp>
      <p:sp>
        <p:nvSpPr>
          <p:cNvPr id="56" name="Rectangle 55"/>
          <p:cNvSpPr/>
          <p:nvPr/>
        </p:nvSpPr>
        <p:spPr>
          <a:xfrm>
            <a:off x="9109710" y="4379976"/>
            <a:ext cx="2558034" cy="658368"/>
          </a:xfrm>
          <a:prstGeom prst="roundRect">
            <a:avLst>
              <a:gd name="adj" fmla="val 40000"/>
            </a:avLst>
          </a:prstGeom>
          <a:solidFill>
            <a:srgbClr val="FFFFFF"/>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9710" y="4434840"/>
            <a:ext cx="2558034" cy="182880"/>
          </a:xfrm>
          <a:prstGeom prst="rect">
            <a:avLst/>
          </a:prstGeom>
          <a:noFill/>
        </p:spPr>
        <p:txBody>
          <a:bodyPr wrap="square">
            <a:spAutoFit/>
          </a:bodyPr>
          <a:lstStyle/>
          <a:p>
            <a:pPr algn="ctr"/>
            <a:r>
              <a:rPr sz="700" b="0">
                <a:solidFill>
                  <a:srgbClr val="6A7A8A"/>
                </a:solidFill>
              </a:rPr>
              <a:t>500戸×24ヶ月 目安</a:t>
            </a:r>
          </a:p>
        </p:txBody>
      </p:sp>
      <p:sp>
        <p:nvSpPr>
          <p:cNvPr id="58" name="TextBox 57"/>
          <p:cNvSpPr txBox="1"/>
          <p:nvPr/>
        </p:nvSpPr>
        <p:spPr>
          <a:xfrm>
            <a:off x="9109710" y="4654296"/>
            <a:ext cx="2558034" cy="310896"/>
          </a:xfrm>
          <a:prstGeom prst="rect">
            <a:avLst/>
          </a:prstGeom>
          <a:noFill/>
        </p:spPr>
        <p:txBody>
          <a:bodyPr wrap="square">
            <a:spAutoFit/>
          </a:bodyPr>
          <a:lstStyle/>
          <a:p>
            <a:pPr algn="ctr"/>
            <a:r>
              <a:rPr sz="1400" b="1">
                <a:solidFill>
                  <a:srgbClr val="E8A020"/>
                </a:solidFill>
              </a:rPr>
              <a:t>●●万円/月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3657600" cy="320040"/>
          </a:xfrm>
          <a:prstGeom prst="rect">
            <a:avLst/>
          </a:prstGeom>
          <a:noFill/>
        </p:spPr>
        <p:txBody>
          <a:bodyPr wrap="square">
            <a:spAutoFit/>
          </a:bodyPr>
          <a:lstStyle/>
          <a:p>
            <a:pPr algn="l"/>
            <a:r>
              <a:rPr sz="800" b="0">
                <a:solidFill>
                  <a:srgbClr val="4A90C8"/>
                </a:solidFill>
              </a:rPr>
              <a:t>08 / Contact</a:t>
            </a:r>
          </a:p>
        </p:txBody>
      </p:sp>
      <p:sp>
        <p:nvSpPr>
          <p:cNvPr id="4" name="TextBox 3"/>
          <p:cNvSpPr txBox="1"/>
          <p:nvPr/>
        </p:nvSpPr>
        <p:spPr>
          <a:xfrm>
            <a:off x="365760" y="365760"/>
            <a:ext cx="8229600" cy="384048"/>
          </a:xfrm>
          <a:prstGeom prst="rect">
            <a:avLst/>
          </a:prstGeom>
          <a:noFill/>
        </p:spPr>
        <p:txBody>
          <a:bodyPr wrap="square">
            <a:spAutoFit/>
          </a:bodyPr>
          <a:lstStyle/>
          <a:p>
            <a:pPr algn="l"/>
            <a:r>
              <a:rPr sz="1600" b="0">
                <a:solidFill>
                  <a:srgbClr val="FFFFFF"/>
                </a:solidFill>
              </a:rPr>
              <a:t>問 い 合 わ せ 先</a:t>
            </a:r>
          </a:p>
        </p:txBody>
      </p:sp>
      <p:sp>
        <p:nvSpPr>
          <p:cNvPr id="5" name="Rectangle 4"/>
          <p:cNvSpPr/>
          <p:nvPr/>
        </p:nvSpPr>
        <p:spPr>
          <a:xfrm>
            <a:off x="320040" y="886968"/>
            <a:ext cx="5646420" cy="5184648"/>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88136"/>
            <a:ext cx="5097780" cy="384048"/>
          </a:xfrm>
          <a:prstGeom prst="rect">
            <a:avLst/>
          </a:prstGeom>
          <a:noFill/>
        </p:spPr>
        <p:txBody>
          <a:bodyPr wrap="square">
            <a:spAutoFit/>
          </a:bodyPr>
          <a:lstStyle/>
          <a:p>
            <a:pPr algn="l"/>
            <a:r>
              <a:rPr sz="1800" b="1">
                <a:solidFill>
                  <a:srgbClr val="2860A8"/>
                </a:solidFill>
              </a:rPr>
              <a:t>SHIKI</a:t>
            </a:r>
          </a:p>
        </p:txBody>
      </p:sp>
      <p:sp>
        <p:nvSpPr>
          <p:cNvPr id="7" name="Rectangle 6"/>
          <p:cNvSpPr/>
          <p:nvPr/>
        </p:nvSpPr>
        <p:spPr>
          <a:xfrm>
            <a:off x="594360" y="1563624"/>
            <a:ext cx="5097780" cy="12700"/>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09928"/>
            <a:ext cx="5097780" cy="182880"/>
          </a:xfrm>
          <a:prstGeom prst="rect">
            <a:avLst/>
          </a:prstGeom>
          <a:noFill/>
        </p:spPr>
        <p:txBody>
          <a:bodyPr wrap="square">
            <a:spAutoFit/>
          </a:bodyPr>
          <a:lstStyle/>
          <a:p>
            <a:pPr algn="l"/>
            <a:r>
              <a:rPr sz="700" b="0">
                <a:solidFill>
                  <a:srgbClr val="6A7A8A"/>
                </a:solidFill>
              </a:rPr>
              <a:t>担当部署</a:t>
            </a:r>
          </a:p>
        </p:txBody>
      </p:sp>
      <p:sp>
        <p:nvSpPr>
          <p:cNvPr id="9" name="TextBox 8"/>
          <p:cNvSpPr txBox="1"/>
          <p:nvPr/>
        </p:nvSpPr>
        <p:spPr>
          <a:xfrm>
            <a:off x="594360" y="1892808"/>
            <a:ext cx="5097780" cy="274320"/>
          </a:xfrm>
          <a:prstGeom prst="rect">
            <a:avLst/>
          </a:prstGeom>
          <a:noFill/>
        </p:spPr>
        <p:txBody>
          <a:bodyPr wrap="square">
            <a:spAutoFit/>
          </a:bodyPr>
          <a:lstStyle/>
          <a:p>
            <a:pPr algn="l"/>
            <a:r>
              <a:rPr sz="1100" b="1">
                <a:solidFill>
                  <a:srgbClr val="1A2E48"/>
                </a:solidFill>
              </a:rPr>
              <a:t>●●●●部</a:t>
            </a:r>
          </a:p>
        </p:txBody>
      </p:sp>
      <p:sp>
        <p:nvSpPr>
          <p:cNvPr id="10" name="TextBox 9"/>
          <p:cNvSpPr txBox="1"/>
          <p:nvPr/>
        </p:nvSpPr>
        <p:spPr>
          <a:xfrm>
            <a:off x="594360" y="2203704"/>
            <a:ext cx="5097780" cy="182880"/>
          </a:xfrm>
          <a:prstGeom prst="rect">
            <a:avLst/>
          </a:prstGeom>
          <a:noFill/>
        </p:spPr>
        <p:txBody>
          <a:bodyPr wrap="square">
            <a:spAutoFit/>
          </a:bodyPr>
          <a:lstStyle/>
          <a:p>
            <a:pPr algn="l"/>
            <a:r>
              <a:rPr sz="700" b="0">
                <a:solidFill>
                  <a:srgbClr val="6A7A8A"/>
                </a:solidFill>
              </a:rPr>
              <a:t>担当者名</a:t>
            </a:r>
          </a:p>
        </p:txBody>
      </p:sp>
      <p:sp>
        <p:nvSpPr>
          <p:cNvPr id="11" name="TextBox 10"/>
          <p:cNvSpPr txBox="1"/>
          <p:nvPr/>
        </p:nvSpPr>
        <p:spPr>
          <a:xfrm>
            <a:off x="594360" y="2386584"/>
            <a:ext cx="5097780" cy="274320"/>
          </a:xfrm>
          <a:prstGeom prst="rect">
            <a:avLst/>
          </a:prstGeom>
          <a:noFill/>
        </p:spPr>
        <p:txBody>
          <a:bodyPr wrap="square">
            <a:spAutoFit/>
          </a:bodyPr>
          <a:lstStyle/>
          <a:p>
            <a:pPr algn="l"/>
            <a:r>
              <a:rPr sz="1100" b="1">
                <a:solidFill>
                  <a:srgbClr val="1A2E48"/>
                </a:solidFill>
              </a:rPr>
              <a:t>●●　●●</a:t>
            </a:r>
          </a:p>
        </p:txBody>
      </p:sp>
      <p:sp>
        <p:nvSpPr>
          <p:cNvPr id="12" name="TextBox 11"/>
          <p:cNvSpPr txBox="1"/>
          <p:nvPr/>
        </p:nvSpPr>
        <p:spPr>
          <a:xfrm>
            <a:off x="594360" y="2697480"/>
            <a:ext cx="5097780" cy="182880"/>
          </a:xfrm>
          <a:prstGeom prst="rect">
            <a:avLst/>
          </a:prstGeom>
          <a:noFill/>
        </p:spPr>
        <p:txBody>
          <a:bodyPr wrap="square">
            <a:spAutoFit/>
          </a:bodyPr>
          <a:lstStyle/>
          <a:p>
            <a:pPr algn="l"/>
            <a:r>
              <a:rPr sz="700" b="0">
                <a:solidFill>
                  <a:srgbClr val="6A7A8A"/>
                </a:solidFill>
              </a:rPr>
              <a:t>電話番号</a:t>
            </a:r>
          </a:p>
        </p:txBody>
      </p:sp>
      <p:sp>
        <p:nvSpPr>
          <p:cNvPr id="13" name="TextBox 12"/>
          <p:cNvSpPr txBox="1"/>
          <p:nvPr/>
        </p:nvSpPr>
        <p:spPr>
          <a:xfrm>
            <a:off x="594360" y="2880360"/>
            <a:ext cx="5097780" cy="274320"/>
          </a:xfrm>
          <a:prstGeom prst="rect">
            <a:avLst/>
          </a:prstGeom>
          <a:noFill/>
        </p:spPr>
        <p:txBody>
          <a:bodyPr wrap="square">
            <a:spAutoFit/>
          </a:bodyPr>
          <a:lstStyle/>
          <a:p>
            <a:pPr algn="l"/>
            <a:r>
              <a:rPr sz="1100" b="1">
                <a:solidFill>
                  <a:srgbClr val="1A2E48"/>
                </a:solidFill>
              </a:rPr>
              <a:t>0●-●●●●-●●●●</a:t>
            </a:r>
          </a:p>
        </p:txBody>
      </p:sp>
      <p:sp>
        <p:nvSpPr>
          <p:cNvPr id="14" name="TextBox 13"/>
          <p:cNvSpPr txBox="1"/>
          <p:nvPr/>
        </p:nvSpPr>
        <p:spPr>
          <a:xfrm>
            <a:off x="594360" y="3191256"/>
            <a:ext cx="5097780" cy="182880"/>
          </a:xfrm>
          <a:prstGeom prst="rect">
            <a:avLst/>
          </a:prstGeom>
          <a:noFill/>
        </p:spPr>
        <p:txBody>
          <a:bodyPr wrap="square">
            <a:spAutoFit/>
          </a:bodyPr>
          <a:lstStyle/>
          <a:p>
            <a:pPr algn="l"/>
            <a:r>
              <a:rPr sz="700" b="0">
                <a:solidFill>
                  <a:srgbClr val="6A7A8A"/>
                </a:solidFill>
              </a:rPr>
              <a:t>メールアドレス</a:t>
            </a:r>
          </a:p>
        </p:txBody>
      </p:sp>
      <p:sp>
        <p:nvSpPr>
          <p:cNvPr id="15" name="TextBox 14"/>
          <p:cNvSpPr txBox="1"/>
          <p:nvPr/>
        </p:nvSpPr>
        <p:spPr>
          <a:xfrm>
            <a:off x="594360" y="3374136"/>
            <a:ext cx="5097780" cy="274320"/>
          </a:xfrm>
          <a:prstGeom prst="rect">
            <a:avLst/>
          </a:prstGeom>
          <a:noFill/>
        </p:spPr>
        <p:txBody>
          <a:bodyPr wrap="square">
            <a:spAutoFit/>
          </a:bodyPr>
          <a:lstStyle/>
          <a:p>
            <a:pPr algn="l"/>
            <a:r>
              <a:rPr sz="1100" b="1">
                <a:solidFill>
                  <a:srgbClr val="1A2E48"/>
                </a:solidFill>
              </a:rPr>
              <a:t>●●●●@shiki.co.jp</a:t>
            </a:r>
          </a:p>
        </p:txBody>
      </p:sp>
      <p:sp>
        <p:nvSpPr>
          <p:cNvPr id="16" name="TextBox 15"/>
          <p:cNvSpPr txBox="1"/>
          <p:nvPr/>
        </p:nvSpPr>
        <p:spPr>
          <a:xfrm>
            <a:off x="594360" y="3776472"/>
            <a:ext cx="5097780" cy="201168"/>
          </a:xfrm>
          <a:prstGeom prst="rect">
            <a:avLst/>
          </a:prstGeom>
          <a:noFill/>
        </p:spPr>
        <p:txBody>
          <a:bodyPr wrap="square">
            <a:spAutoFit/>
          </a:bodyPr>
          <a:lstStyle/>
          <a:p>
            <a:pPr algn="l"/>
            <a:r>
              <a:rPr sz="800" b="0">
                <a:solidFill>
                  <a:srgbClr val="6A7A8A"/>
                </a:solidFill>
              </a:rPr>
              <a:t>受付時間: 平日 ●:00〜●:00</a:t>
            </a:r>
          </a:p>
        </p:txBody>
      </p:sp>
      <p:sp>
        <p:nvSpPr>
          <p:cNvPr id="17" name="Rectangle 16"/>
          <p:cNvSpPr/>
          <p:nvPr/>
        </p:nvSpPr>
        <p:spPr>
          <a:xfrm>
            <a:off x="6222492" y="886968"/>
            <a:ext cx="5646420" cy="5184648"/>
          </a:xfrm>
          <a:prstGeom prst="roundRect">
            <a:avLst>
              <a:gd name="adj" fmla="val 40000"/>
            </a:avLst>
          </a:prstGeom>
          <a:solidFill>
            <a:srgbClr val="EEF5FC"/>
          </a:solidFill>
          <a:ln w="12700">
            <a:solidFill>
              <a:srgbClr val="C8DC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6812" y="1088136"/>
            <a:ext cx="5097780" cy="384048"/>
          </a:xfrm>
          <a:prstGeom prst="rect">
            <a:avLst/>
          </a:prstGeom>
          <a:noFill/>
        </p:spPr>
        <p:txBody>
          <a:bodyPr wrap="square">
            <a:spAutoFit/>
          </a:bodyPr>
          <a:lstStyle/>
          <a:p>
            <a:pPr algn="l"/>
            <a:r>
              <a:rPr sz="1800" b="1">
                <a:solidFill>
                  <a:srgbClr val="1A2E48"/>
                </a:solidFill>
              </a:rPr>
              <a:t>日本住戸</a:t>
            </a:r>
          </a:p>
        </p:txBody>
      </p:sp>
      <p:sp>
        <p:nvSpPr>
          <p:cNvPr id="19" name="Rectangle 18"/>
          <p:cNvSpPr/>
          <p:nvPr/>
        </p:nvSpPr>
        <p:spPr>
          <a:xfrm>
            <a:off x="6496812" y="1563624"/>
            <a:ext cx="5097780" cy="12700"/>
          </a:xfrm>
          <a:prstGeom prst="rect">
            <a:avLst/>
          </a:prstGeom>
          <a:solidFill>
            <a:srgbClr val="C8DC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6812" y="1709928"/>
            <a:ext cx="5097780" cy="182880"/>
          </a:xfrm>
          <a:prstGeom prst="rect">
            <a:avLst/>
          </a:prstGeom>
          <a:noFill/>
        </p:spPr>
        <p:txBody>
          <a:bodyPr wrap="square">
            <a:spAutoFit/>
          </a:bodyPr>
          <a:lstStyle/>
          <a:p>
            <a:pPr algn="l"/>
            <a:r>
              <a:rPr sz="700" b="0">
                <a:solidFill>
                  <a:srgbClr val="6A7A8A"/>
                </a:solidFill>
              </a:rPr>
              <a:t>担当部署</a:t>
            </a:r>
          </a:p>
        </p:txBody>
      </p:sp>
      <p:sp>
        <p:nvSpPr>
          <p:cNvPr id="21" name="TextBox 20"/>
          <p:cNvSpPr txBox="1"/>
          <p:nvPr/>
        </p:nvSpPr>
        <p:spPr>
          <a:xfrm>
            <a:off x="6496812" y="1892808"/>
            <a:ext cx="5097780" cy="274320"/>
          </a:xfrm>
          <a:prstGeom prst="rect">
            <a:avLst/>
          </a:prstGeom>
          <a:noFill/>
        </p:spPr>
        <p:txBody>
          <a:bodyPr wrap="square">
            <a:spAutoFit/>
          </a:bodyPr>
          <a:lstStyle/>
          <a:p>
            <a:pPr algn="l"/>
            <a:r>
              <a:rPr sz="1100" b="1">
                <a:solidFill>
                  <a:srgbClr val="1A2E48"/>
                </a:solidFill>
              </a:rPr>
              <a:t>●●●●部</a:t>
            </a:r>
          </a:p>
        </p:txBody>
      </p:sp>
      <p:sp>
        <p:nvSpPr>
          <p:cNvPr id="22" name="TextBox 21"/>
          <p:cNvSpPr txBox="1"/>
          <p:nvPr/>
        </p:nvSpPr>
        <p:spPr>
          <a:xfrm>
            <a:off x="6496812" y="2203704"/>
            <a:ext cx="5097780" cy="182880"/>
          </a:xfrm>
          <a:prstGeom prst="rect">
            <a:avLst/>
          </a:prstGeom>
          <a:noFill/>
        </p:spPr>
        <p:txBody>
          <a:bodyPr wrap="square">
            <a:spAutoFit/>
          </a:bodyPr>
          <a:lstStyle/>
          <a:p>
            <a:pPr algn="l"/>
            <a:r>
              <a:rPr sz="700" b="0">
                <a:solidFill>
                  <a:srgbClr val="6A7A8A"/>
                </a:solidFill>
              </a:rPr>
              <a:t>担当者名</a:t>
            </a:r>
          </a:p>
        </p:txBody>
      </p:sp>
      <p:sp>
        <p:nvSpPr>
          <p:cNvPr id="23" name="TextBox 22"/>
          <p:cNvSpPr txBox="1"/>
          <p:nvPr/>
        </p:nvSpPr>
        <p:spPr>
          <a:xfrm>
            <a:off x="6496812" y="2386584"/>
            <a:ext cx="5097780" cy="274320"/>
          </a:xfrm>
          <a:prstGeom prst="rect">
            <a:avLst/>
          </a:prstGeom>
          <a:noFill/>
        </p:spPr>
        <p:txBody>
          <a:bodyPr wrap="square">
            <a:spAutoFit/>
          </a:bodyPr>
          <a:lstStyle/>
          <a:p>
            <a:pPr algn="l"/>
            <a:r>
              <a:rPr sz="1100" b="1">
                <a:solidFill>
                  <a:srgbClr val="1A2E48"/>
                </a:solidFill>
              </a:rPr>
              <a:t>●●　●●</a:t>
            </a:r>
          </a:p>
        </p:txBody>
      </p:sp>
      <p:sp>
        <p:nvSpPr>
          <p:cNvPr id="24" name="TextBox 23"/>
          <p:cNvSpPr txBox="1"/>
          <p:nvPr/>
        </p:nvSpPr>
        <p:spPr>
          <a:xfrm>
            <a:off x="6496812" y="2697480"/>
            <a:ext cx="5097780" cy="182880"/>
          </a:xfrm>
          <a:prstGeom prst="rect">
            <a:avLst/>
          </a:prstGeom>
          <a:noFill/>
        </p:spPr>
        <p:txBody>
          <a:bodyPr wrap="square">
            <a:spAutoFit/>
          </a:bodyPr>
          <a:lstStyle/>
          <a:p>
            <a:pPr algn="l"/>
            <a:r>
              <a:rPr sz="700" b="0">
                <a:solidFill>
                  <a:srgbClr val="6A7A8A"/>
                </a:solidFill>
              </a:rPr>
              <a:t>電話番号</a:t>
            </a:r>
          </a:p>
        </p:txBody>
      </p:sp>
      <p:sp>
        <p:nvSpPr>
          <p:cNvPr id="25" name="TextBox 24"/>
          <p:cNvSpPr txBox="1"/>
          <p:nvPr/>
        </p:nvSpPr>
        <p:spPr>
          <a:xfrm>
            <a:off x="6496812" y="2880360"/>
            <a:ext cx="5097780" cy="274320"/>
          </a:xfrm>
          <a:prstGeom prst="rect">
            <a:avLst/>
          </a:prstGeom>
          <a:noFill/>
        </p:spPr>
        <p:txBody>
          <a:bodyPr wrap="square">
            <a:spAutoFit/>
          </a:bodyPr>
          <a:lstStyle/>
          <a:p>
            <a:pPr algn="l"/>
            <a:r>
              <a:rPr sz="1100" b="1">
                <a:solidFill>
                  <a:srgbClr val="1A2E48"/>
                </a:solidFill>
              </a:rPr>
              <a:t>0●-●●●●-●●●●</a:t>
            </a:r>
          </a:p>
        </p:txBody>
      </p:sp>
      <p:sp>
        <p:nvSpPr>
          <p:cNvPr id="26" name="TextBox 25"/>
          <p:cNvSpPr txBox="1"/>
          <p:nvPr/>
        </p:nvSpPr>
        <p:spPr>
          <a:xfrm>
            <a:off x="6496812" y="3191256"/>
            <a:ext cx="5097780" cy="182880"/>
          </a:xfrm>
          <a:prstGeom prst="rect">
            <a:avLst/>
          </a:prstGeom>
          <a:noFill/>
        </p:spPr>
        <p:txBody>
          <a:bodyPr wrap="square">
            <a:spAutoFit/>
          </a:bodyPr>
          <a:lstStyle/>
          <a:p>
            <a:pPr algn="l"/>
            <a:r>
              <a:rPr sz="700" b="0">
                <a:solidFill>
                  <a:srgbClr val="6A7A8A"/>
                </a:solidFill>
              </a:rPr>
              <a:t>メールアドレス</a:t>
            </a:r>
          </a:p>
        </p:txBody>
      </p:sp>
      <p:sp>
        <p:nvSpPr>
          <p:cNvPr id="27" name="TextBox 26"/>
          <p:cNvSpPr txBox="1"/>
          <p:nvPr/>
        </p:nvSpPr>
        <p:spPr>
          <a:xfrm>
            <a:off x="6496812" y="3374136"/>
            <a:ext cx="5097780" cy="274320"/>
          </a:xfrm>
          <a:prstGeom prst="rect">
            <a:avLst/>
          </a:prstGeom>
          <a:noFill/>
        </p:spPr>
        <p:txBody>
          <a:bodyPr wrap="square">
            <a:spAutoFit/>
          </a:bodyPr>
          <a:lstStyle/>
          <a:p>
            <a:pPr algn="l"/>
            <a:r>
              <a:rPr sz="1100" b="1">
                <a:solidFill>
                  <a:srgbClr val="1A2E48"/>
                </a:solidFill>
              </a:rPr>
              <a:t>●●●●@nihon-juto.co.jp</a:t>
            </a:r>
          </a:p>
        </p:txBody>
      </p:sp>
      <p:sp>
        <p:nvSpPr>
          <p:cNvPr id="28" name="TextBox 27"/>
          <p:cNvSpPr txBox="1"/>
          <p:nvPr/>
        </p:nvSpPr>
        <p:spPr>
          <a:xfrm>
            <a:off x="6496812" y="3776472"/>
            <a:ext cx="5097780" cy="201168"/>
          </a:xfrm>
          <a:prstGeom prst="rect">
            <a:avLst/>
          </a:prstGeom>
          <a:noFill/>
        </p:spPr>
        <p:txBody>
          <a:bodyPr wrap="square">
            <a:spAutoFit/>
          </a:bodyPr>
          <a:lstStyle/>
          <a:p>
            <a:pPr algn="l"/>
            <a:r>
              <a:rPr sz="800" b="0">
                <a:solidFill>
                  <a:srgbClr val="6A7A8A"/>
                </a:solidFill>
              </a:rPr>
              <a:t>受付時間: 平日 ●:00〜●:00</a:t>
            </a:r>
          </a:p>
        </p:txBody>
      </p:sp>
      <p:sp>
        <p:nvSpPr>
          <p:cNvPr id="29" name="Rectangle 28"/>
          <p:cNvSpPr/>
          <p:nvPr/>
        </p:nvSpPr>
        <p:spPr>
          <a:xfrm>
            <a:off x="320040" y="6144768"/>
            <a:ext cx="11548872" cy="512064"/>
          </a:xfrm>
          <a:prstGeom prst="roundRect">
            <a:avLst>
              <a:gd name="adj" fmla="val 15000"/>
            </a:avLst>
          </a:prstGeom>
          <a:solidFill>
            <a:srgbClr val="1A2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254496"/>
            <a:ext cx="11091672" cy="310896"/>
          </a:xfrm>
          <a:prstGeom prst="rect">
            <a:avLst/>
          </a:prstGeom>
          <a:noFill/>
        </p:spPr>
        <p:txBody>
          <a:bodyPr wrap="square">
            <a:spAutoFit/>
          </a:bodyPr>
          <a:lstStyle/>
          <a:p>
            <a:pPr algn="ctr"/>
            <a:r>
              <a:rPr sz="1000" b="0">
                <a:solidFill>
                  <a:srgbClr val="AABBCC"/>
                </a:solidFill>
              </a:rPr>
              <a:t>お気軽にお問い合わせください　|　SHIKI（親会社）× 日本住戸（グループ会社）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